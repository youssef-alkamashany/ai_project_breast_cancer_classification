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Samples</c:v>
                </c:pt>
              </c:strCache>
            </c:strRef>
          </c:tx>
          <c:spPr>
            <a:solidFill>
              <a:srgbClr val="3E1F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Malignant</c:v>
                  </c:pt>
                  <c:pt idx="1">
                    <c:v>Benign</c:v>
                  </c:pt>
                </c:lvl>
              </c:multiLvlStrCache>
            </c:multiLvlStrRef>
          </c:cat>
          <c:val>
            <c:numRef>
              <c:f>Sheet1!$B$2:$B$3</c:f>
              <c:numCache>
                <c:formatCode>General</c:formatCode>
                <c:ptCount val="2"/>
                <c:pt idx="0">
                  <c:v>212</c:v>
                </c:pt>
                <c:pt idx="1">
                  <c:v>357</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7E1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145"/>
        </a:solidFill>
      </p:bgPr>
    </p:bg>
    <p:spTree>
      <p:nvGrpSpPr>
        <p:cNvPr id="1" name=""/>
        <p:cNvGrpSpPr/>
        <p:nvPr/>
      </p:nvGrpSpPr>
      <p:grpSpPr>
        <a:xfrm>
          <a:off x="0" y="0"/>
          <a:ext cx="0" cy="0"/>
          <a:chOff x="0" y="0"/>
          <a:chExt cx="0" cy="0"/>
        </a:xfrm>
      </p:grpSpPr>
      <p:sp>
        <p:nvSpPr>
          <p:cNvPr id="2" name="Shape 0"/>
          <p:cNvSpPr/>
          <p:nvPr/>
        </p:nvSpPr>
        <p:spPr>
          <a:xfrm>
            <a:off x="8961120" y="-2286000"/>
            <a:ext cx="6400800" cy="6400800"/>
          </a:xfrm>
          <a:prstGeom prst="ellipse">
            <a:avLst/>
          </a:prstGeom>
          <a:solidFill>
            <a:srgbClr val="3E1F73">
              <a:alpha val="60000"/>
            </a:srgbClr>
          </a:solidFill>
          <a:ln/>
        </p:spPr>
      </p:sp>
      <p:sp>
        <p:nvSpPr>
          <p:cNvPr id="3" name="Shape 1"/>
          <p:cNvSpPr/>
          <p:nvPr/>
        </p:nvSpPr>
        <p:spPr>
          <a:xfrm>
            <a:off x="-2743200" y="4114800"/>
            <a:ext cx="5486400" cy="5486400"/>
          </a:xfrm>
          <a:prstGeom prst="ellipse">
            <a:avLst/>
          </a:prstGeom>
          <a:solidFill>
            <a:srgbClr val="D4A017">
              <a:alpha val="12000"/>
            </a:srgbClr>
          </a:solidFill>
          <a:ln/>
        </p:spPr>
      </p:sp>
      <p:sp>
        <p:nvSpPr>
          <p:cNvPr id="4" name="Text 2"/>
          <p:cNvSpPr/>
          <p:nvPr/>
        </p:nvSpPr>
        <p:spPr>
          <a:xfrm>
            <a:off x="822960" y="1828800"/>
            <a:ext cx="10515600" cy="457200"/>
          </a:xfrm>
          <a:prstGeom prst="rect">
            <a:avLst/>
          </a:prstGeom>
          <a:noFill/>
          <a:ln/>
        </p:spPr>
        <p:txBody>
          <a:bodyPr wrap="square" rtlCol="0" anchor="ctr"/>
          <a:lstStyle/>
          <a:p>
            <a:pPr indent="0" marL="0">
              <a:buNone/>
            </a:pPr>
            <a:r>
              <a:rPr lang="en-US" sz="1600" b="1" spc="300" kern="0" dirty="0">
                <a:solidFill>
                  <a:srgbClr val="F2C94C"/>
                </a:solidFill>
                <a:latin typeface="Arial" pitchFamily="34" charset="0"/>
                <a:ea typeface="Arial" pitchFamily="34" charset="-122"/>
                <a:cs typeface="Arial" pitchFamily="34" charset="-120"/>
              </a:rPr>
              <a:t>AI CLASSIFICATION PROJECT</a:t>
            </a:r>
            <a:endParaRPr lang="en-US" sz="1600" dirty="0"/>
          </a:p>
        </p:txBody>
      </p:sp>
      <p:sp>
        <p:nvSpPr>
          <p:cNvPr id="5" name="Text 3"/>
          <p:cNvSpPr/>
          <p:nvPr/>
        </p:nvSpPr>
        <p:spPr>
          <a:xfrm>
            <a:off x="822960" y="2286000"/>
            <a:ext cx="1051560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Breast Cancer Diagnosis Classification</a:t>
            </a:r>
            <a:endParaRPr lang="en-US" sz="3600" dirty="0"/>
          </a:p>
        </p:txBody>
      </p:sp>
      <p:sp>
        <p:nvSpPr>
          <p:cNvPr id="6" name="Text 4"/>
          <p:cNvSpPr/>
          <p:nvPr/>
        </p:nvSpPr>
        <p:spPr>
          <a:xfrm>
            <a:off x="822960" y="3108960"/>
            <a:ext cx="10058400" cy="457200"/>
          </a:xfrm>
          <a:prstGeom prst="rect">
            <a:avLst/>
          </a:prstGeom>
          <a:noFill/>
          <a:ln/>
        </p:spPr>
        <p:txBody>
          <a:bodyPr wrap="square" rtlCol="0" anchor="ctr"/>
          <a:lstStyle/>
          <a:p>
            <a:pPr indent="0" marL="0">
              <a:buNone/>
            </a:pPr>
            <a:r>
              <a:rPr lang="en-US" sz="1500" dirty="0">
                <a:solidFill>
                  <a:srgbClr val="CFC6E6"/>
                </a:solidFill>
                <a:latin typeface="Arial" pitchFamily="34" charset="0"/>
                <a:ea typeface="Arial" pitchFamily="34" charset="-122"/>
                <a:cs typeface="Arial" pitchFamily="34" charset="-120"/>
              </a:rPr>
              <a:t>A Comparative Study of SVC, Decision Tree, and TensorFlow Sequential Models</a:t>
            </a:r>
            <a:endParaRPr lang="en-US" sz="1500" dirty="0"/>
          </a:p>
        </p:txBody>
      </p:sp>
      <p:sp>
        <p:nvSpPr>
          <p:cNvPr id="7" name="Text 5"/>
          <p:cNvSpPr/>
          <p:nvPr/>
        </p:nvSpPr>
        <p:spPr>
          <a:xfrm>
            <a:off x="822960" y="3611880"/>
            <a:ext cx="10515600" cy="457200"/>
          </a:xfrm>
          <a:prstGeom prst="rect">
            <a:avLst/>
          </a:prstGeom>
          <a:noFill/>
          <a:ln/>
        </p:spPr>
        <p:txBody>
          <a:bodyPr wrap="square" rtlCol="0" anchor="ctr"/>
          <a:lstStyle/>
          <a:p>
            <a:pPr indent="0" marL="0">
              <a:buNone/>
            </a:pPr>
            <a:r>
              <a:rPr lang="en-US" sz="1600" dirty="0">
                <a:solidFill>
                  <a:srgbClr val="F2C94C"/>
                </a:solidFill>
                <a:latin typeface="Arial" pitchFamily="34" charset="0"/>
                <a:ea typeface="Arial" pitchFamily="34" charset="-122"/>
                <a:cs typeface="Arial" pitchFamily="34" charset="-120"/>
              </a:rPr>
              <a:t>SVC   •   Decision Tree Classifier   •   TensorFlow Sequential   •   MATLAB</a:t>
            </a:r>
            <a:endParaRPr lang="en-US" sz="1600" dirty="0"/>
          </a:p>
        </p:txBody>
      </p:sp>
      <p:sp>
        <p:nvSpPr>
          <p:cNvPr id="8" name="Shape 6"/>
          <p:cNvSpPr/>
          <p:nvPr/>
        </p:nvSpPr>
        <p:spPr>
          <a:xfrm>
            <a:off x="822960" y="4251960"/>
            <a:ext cx="2926080" cy="0"/>
          </a:xfrm>
          <a:prstGeom prst="line">
            <a:avLst/>
          </a:prstGeom>
          <a:noFill/>
          <a:ln w="25400">
            <a:solidFill>
              <a:srgbClr val="D4A017"/>
            </a:solidFill>
            <a:prstDash val="solid"/>
          </a:ln>
        </p:spPr>
      </p:sp>
      <p:sp>
        <p:nvSpPr>
          <p:cNvPr id="9" name="Text 7"/>
          <p:cNvSpPr/>
          <p:nvPr/>
        </p:nvSpPr>
        <p:spPr>
          <a:xfrm>
            <a:off x="822960" y="5943600"/>
            <a:ext cx="5486400" cy="365760"/>
          </a:xfrm>
          <a:prstGeom prst="rect">
            <a:avLst/>
          </a:prstGeom>
          <a:noFill/>
          <a:ln/>
        </p:spPr>
        <p:txBody>
          <a:bodyPr wrap="square" rtlCol="0" anchor="ctr"/>
          <a:lstStyle/>
          <a:p>
            <a:pPr indent="0" marL="0">
              <a:buNone/>
            </a:pPr>
            <a:r>
              <a:rPr lang="en-US" sz="1400" dirty="0">
                <a:solidFill>
                  <a:srgbClr val="9A8FB0"/>
                </a:solidFill>
                <a:latin typeface="Arial" pitchFamily="34" charset="0"/>
                <a:ea typeface="Arial" pitchFamily="34" charset="-122"/>
                <a:cs typeface="Arial" pitchFamily="34" charset="-120"/>
              </a:rPr>
              <a:t>Prepared by: </a:t>
            </a:r>
            <a:pPr indent="0" marL="0">
              <a:buNone/>
            </a:pPr>
            <a:r>
              <a:rPr lang="en-US" sz="1400" b="1" dirty="0">
                <a:solidFill>
                  <a:srgbClr val="FFFFFF"/>
                </a:solidFill>
                <a:latin typeface="Arial" pitchFamily="34" charset="0"/>
                <a:ea typeface="Arial" pitchFamily="34" charset="-122"/>
                <a:cs typeface="Arial" pitchFamily="34" charset="-120"/>
              </a:rPr>
              <a:t>Kamashany</a:t>
            </a:r>
            <a:endParaRPr lang="en-US" sz="1400" dirty="0"/>
          </a:p>
        </p:txBody>
      </p:sp>
      <p:sp>
        <p:nvSpPr>
          <p:cNvPr id="10" name="Text 8"/>
          <p:cNvSpPr/>
          <p:nvPr/>
        </p:nvSpPr>
        <p:spPr>
          <a:xfrm>
            <a:off x="822960" y="6263640"/>
            <a:ext cx="7315200" cy="320040"/>
          </a:xfrm>
          <a:prstGeom prst="rect">
            <a:avLst/>
          </a:prstGeom>
          <a:noFill/>
          <a:ln/>
        </p:spPr>
        <p:txBody>
          <a:bodyPr wrap="square" rtlCol="0" anchor="ctr"/>
          <a:lstStyle/>
          <a:p>
            <a:pPr indent="0" marL="0">
              <a:buNone/>
            </a:pPr>
            <a:r>
              <a:rPr lang="en-US" sz="1100" i="1" dirty="0">
                <a:solidFill>
                  <a:srgbClr val="9A8FB0"/>
                </a:solidFill>
                <a:latin typeface="Arial" pitchFamily="34" charset="0"/>
                <a:ea typeface="Arial" pitchFamily="34" charset="-122"/>
                <a:cs typeface="Arial" pitchFamily="34" charset="-120"/>
              </a:rPr>
              <a:t>Dataset Source: UCI Machine Learning Repository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Agenda</a:t>
            </a:r>
            <a:endParaRPr lang="en-US" sz="2800" dirty="0"/>
          </a:p>
        </p:txBody>
      </p:sp>
      <p:sp>
        <p:nvSpPr>
          <p:cNvPr id="3" name="Shape 1"/>
          <p:cNvSpPr/>
          <p:nvPr/>
        </p:nvSpPr>
        <p:spPr>
          <a:xfrm>
            <a:off x="548640" y="1554480"/>
            <a:ext cx="457200" cy="457200"/>
          </a:xfrm>
          <a:prstGeom prst="ellipse">
            <a:avLst/>
          </a:prstGeom>
          <a:solidFill>
            <a:srgbClr val="3E1F73"/>
          </a:solidFill>
          <a:ln/>
        </p:spPr>
      </p:sp>
      <p:sp>
        <p:nvSpPr>
          <p:cNvPr id="4" name="Text 2"/>
          <p:cNvSpPr/>
          <p:nvPr/>
        </p:nvSpPr>
        <p:spPr>
          <a:xfrm>
            <a:off x="548640" y="15544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143000" y="157276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Project Objectives &amp; Requirements</a:t>
            </a:r>
            <a:endParaRPr lang="en-US" sz="1300" dirty="0"/>
          </a:p>
        </p:txBody>
      </p:sp>
      <p:sp>
        <p:nvSpPr>
          <p:cNvPr id="6" name="Shape 4"/>
          <p:cNvSpPr/>
          <p:nvPr/>
        </p:nvSpPr>
        <p:spPr>
          <a:xfrm>
            <a:off x="548640" y="2423160"/>
            <a:ext cx="457200" cy="457200"/>
          </a:xfrm>
          <a:prstGeom prst="ellipse">
            <a:avLst/>
          </a:prstGeom>
          <a:solidFill>
            <a:srgbClr val="D4A017"/>
          </a:solidFill>
          <a:ln/>
        </p:spPr>
      </p:sp>
      <p:sp>
        <p:nvSpPr>
          <p:cNvPr id="7" name="Text 5"/>
          <p:cNvSpPr/>
          <p:nvPr/>
        </p:nvSpPr>
        <p:spPr>
          <a:xfrm>
            <a:off x="548640" y="2423160"/>
            <a:ext cx="457200" cy="457200"/>
          </a:xfrm>
          <a:prstGeom prst="rect">
            <a:avLst/>
          </a:prstGeom>
          <a:noFill/>
          <a:ln/>
        </p:spPr>
        <p:txBody>
          <a:bodyPr wrap="square" rtlCol="0" anchor="ctr"/>
          <a:lstStyle/>
          <a:p>
            <a:pPr algn="ctr" indent="0" marL="0">
              <a:buNone/>
            </a:pPr>
            <a:r>
              <a:rPr lang="en-US" sz="1400" b="1" dirty="0">
                <a:solidFill>
                  <a:srgbClr val="241145"/>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1143000" y="244144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Dataset Overview &amp; Verified Source</a:t>
            </a:r>
            <a:endParaRPr lang="en-US" sz="1300" dirty="0"/>
          </a:p>
        </p:txBody>
      </p:sp>
      <p:sp>
        <p:nvSpPr>
          <p:cNvPr id="9" name="Shape 7"/>
          <p:cNvSpPr/>
          <p:nvPr/>
        </p:nvSpPr>
        <p:spPr>
          <a:xfrm>
            <a:off x="548640" y="3291840"/>
            <a:ext cx="457200" cy="457200"/>
          </a:xfrm>
          <a:prstGeom prst="ellipse">
            <a:avLst/>
          </a:prstGeom>
          <a:solidFill>
            <a:srgbClr val="3E1F73"/>
          </a:solidFill>
          <a:ln/>
        </p:spPr>
      </p:sp>
      <p:sp>
        <p:nvSpPr>
          <p:cNvPr id="10" name="Text 8"/>
          <p:cNvSpPr/>
          <p:nvPr/>
        </p:nvSpPr>
        <p:spPr>
          <a:xfrm>
            <a:off x="548640" y="32918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9"/>
          <p:cNvSpPr/>
          <p:nvPr/>
        </p:nvSpPr>
        <p:spPr>
          <a:xfrm>
            <a:off x="1143000" y="331012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Exploratory Data Analysis</a:t>
            </a:r>
            <a:endParaRPr lang="en-US" sz="1300" dirty="0"/>
          </a:p>
        </p:txBody>
      </p:sp>
      <p:sp>
        <p:nvSpPr>
          <p:cNvPr id="12" name="Shape 10"/>
          <p:cNvSpPr/>
          <p:nvPr/>
        </p:nvSpPr>
        <p:spPr>
          <a:xfrm>
            <a:off x="548640" y="4160520"/>
            <a:ext cx="457200" cy="457200"/>
          </a:xfrm>
          <a:prstGeom prst="ellipse">
            <a:avLst/>
          </a:prstGeom>
          <a:solidFill>
            <a:srgbClr val="D4A017"/>
          </a:solidFill>
          <a:ln/>
        </p:spPr>
      </p:sp>
      <p:sp>
        <p:nvSpPr>
          <p:cNvPr id="13" name="Text 11"/>
          <p:cNvSpPr/>
          <p:nvPr/>
        </p:nvSpPr>
        <p:spPr>
          <a:xfrm>
            <a:off x="548640" y="4160520"/>
            <a:ext cx="457200" cy="457200"/>
          </a:xfrm>
          <a:prstGeom prst="rect">
            <a:avLst/>
          </a:prstGeom>
          <a:noFill/>
          <a:ln/>
        </p:spPr>
        <p:txBody>
          <a:bodyPr wrap="square" rtlCol="0" anchor="ctr"/>
          <a:lstStyle/>
          <a:p>
            <a:pPr algn="ctr" indent="0" marL="0">
              <a:buNone/>
            </a:pPr>
            <a:r>
              <a:rPr lang="en-US" sz="1400" b="1" dirty="0">
                <a:solidFill>
                  <a:srgbClr val="241145"/>
                </a:solidFill>
                <a:latin typeface="Arial" pitchFamily="34" charset="0"/>
                <a:ea typeface="Arial" pitchFamily="34" charset="-122"/>
                <a:cs typeface="Arial" pitchFamily="34" charset="-120"/>
              </a:rPr>
              <a:t>4</a:t>
            </a:r>
            <a:endParaRPr lang="en-US" sz="1400" dirty="0"/>
          </a:p>
        </p:txBody>
      </p:sp>
      <p:sp>
        <p:nvSpPr>
          <p:cNvPr id="14" name="Text 12"/>
          <p:cNvSpPr/>
          <p:nvPr/>
        </p:nvSpPr>
        <p:spPr>
          <a:xfrm>
            <a:off x="1143000" y="417880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Methodology &amp; Preprocessing</a:t>
            </a:r>
            <a:endParaRPr lang="en-US" sz="1300" dirty="0"/>
          </a:p>
        </p:txBody>
      </p:sp>
      <p:sp>
        <p:nvSpPr>
          <p:cNvPr id="15" name="Shape 13"/>
          <p:cNvSpPr/>
          <p:nvPr/>
        </p:nvSpPr>
        <p:spPr>
          <a:xfrm>
            <a:off x="548640" y="5029200"/>
            <a:ext cx="457200" cy="457200"/>
          </a:xfrm>
          <a:prstGeom prst="ellipse">
            <a:avLst/>
          </a:prstGeom>
          <a:solidFill>
            <a:srgbClr val="3E1F73"/>
          </a:solidFill>
          <a:ln/>
        </p:spPr>
      </p:sp>
      <p:sp>
        <p:nvSpPr>
          <p:cNvPr id="16" name="Text 14"/>
          <p:cNvSpPr/>
          <p:nvPr/>
        </p:nvSpPr>
        <p:spPr>
          <a:xfrm>
            <a:off x="548640" y="502920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7" name="Text 15"/>
          <p:cNvSpPr/>
          <p:nvPr/>
        </p:nvSpPr>
        <p:spPr>
          <a:xfrm>
            <a:off x="1143000" y="504748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Model 1: SVC (Theory + Results)</a:t>
            </a:r>
            <a:endParaRPr lang="en-US" sz="1300" dirty="0"/>
          </a:p>
        </p:txBody>
      </p:sp>
      <p:sp>
        <p:nvSpPr>
          <p:cNvPr id="18" name="Shape 16"/>
          <p:cNvSpPr/>
          <p:nvPr/>
        </p:nvSpPr>
        <p:spPr>
          <a:xfrm>
            <a:off x="6309360" y="1554480"/>
            <a:ext cx="457200" cy="457200"/>
          </a:xfrm>
          <a:prstGeom prst="ellipse">
            <a:avLst/>
          </a:prstGeom>
          <a:solidFill>
            <a:srgbClr val="D4A017"/>
          </a:solidFill>
          <a:ln/>
        </p:spPr>
      </p:sp>
      <p:sp>
        <p:nvSpPr>
          <p:cNvPr id="19" name="Text 17"/>
          <p:cNvSpPr/>
          <p:nvPr/>
        </p:nvSpPr>
        <p:spPr>
          <a:xfrm>
            <a:off x="6309360" y="1554480"/>
            <a:ext cx="457200" cy="457200"/>
          </a:xfrm>
          <a:prstGeom prst="rect">
            <a:avLst/>
          </a:prstGeom>
          <a:noFill/>
          <a:ln/>
        </p:spPr>
        <p:txBody>
          <a:bodyPr wrap="square" rtlCol="0" anchor="ctr"/>
          <a:lstStyle/>
          <a:p>
            <a:pPr algn="ctr" indent="0" marL="0">
              <a:buNone/>
            </a:pPr>
            <a:r>
              <a:rPr lang="en-US" sz="1400" b="1" dirty="0">
                <a:solidFill>
                  <a:srgbClr val="241145"/>
                </a:solidFill>
                <a:latin typeface="Arial" pitchFamily="34" charset="0"/>
                <a:ea typeface="Arial" pitchFamily="34" charset="-122"/>
                <a:cs typeface="Arial" pitchFamily="34" charset="-120"/>
              </a:rPr>
              <a:t>6</a:t>
            </a:r>
            <a:endParaRPr lang="en-US" sz="1400" dirty="0"/>
          </a:p>
        </p:txBody>
      </p:sp>
      <p:sp>
        <p:nvSpPr>
          <p:cNvPr id="20" name="Text 18"/>
          <p:cNvSpPr/>
          <p:nvPr/>
        </p:nvSpPr>
        <p:spPr>
          <a:xfrm>
            <a:off x="6903720" y="157276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Model 2: Decision Tree Classifier (Theory + Results)</a:t>
            </a:r>
            <a:endParaRPr lang="en-US" sz="1300" dirty="0"/>
          </a:p>
        </p:txBody>
      </p:sp>
      <p:sp>
        <p:nvSpPr>
          <p:cNvPr id="21" name="Shape 19"/>
          <p:cNvSpPr/>
          <p:nvPr/>
        </p:nvSpPr>
        <p:spPr>
          <a:xfrm>
            <a:off x="6309360" y="2423160"/>
            <a:ext cx="457200" cy="457200"/>
          </a:xfrm>
          <a:prstGeom prst="ellipse">
            <a:avLst/>
          </a:prstGeom>
          <a:solidFill>
            <a:srgbClr val="3E1F73"/>
          </a:solidFill>
          <a:ln/>
        </p:spPr>
      </p:sp>
      <p:sp>
        <p:nvSpPr>
          <p:cNvPr id="22" name="Text 20"/>
          <p:cNvSpPr/>
          <p:nvPr/>
        </p:nvSpPr>
        <p:spPr>
          <a:xfrm>
            <a:off x="6309360" y="24231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23" name="Text 21"/>
          <p:cNvSpPr/>
          <p:nvPr/>
        </p:nvSpPr>
        <p:spPr>
          <a:xfrm>
            <a:off x="6903720" y="244144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Model 3: TensorFlow Sequential Neural Network (Theory + Results)</a:t>
            </a:r>
            <a:endParaRPr lang="en-US" sz="1300" dirty="0"/>
          </a:p>
        </p:txBody>
      </p:sp>
      <p:sp>
        <p:nvSpPr>
          <p:cNvPr id="24" name="Shape 22"/>
          <p:cNvSpPr/>
          <p:nvPr/>
        </p:nvSpPr>
        <p:spPr>
          <a:xfrm>
            <a:off x="6309360" y="3291840"/>
            <a:ext cx="457200" cy="457200"/>
          </a:xfrm>
          <a:prstGeom prst="ellipse">
            <a:avLst/>
          </a:prstGeom>
          <a:solidFill>
            <a:srgbClr val="D4A017"/>
          </a:solidFill>
          <a:ln/>
        </p:spPr>
      </p:sp>
      <p:sp>
        <p:nvSpPr>
          <p:cNvPr id="25" name="Text 23"/>
          <p:cNvSpPr/>
          <p:nvPr/>
        </p:nvSpPr>
        <p:spPr>
          <a:xfrm>
            <a:off x="6309360" y="3291840"/>
            <a:ext cx="457200" cy="457200"/>
          </a:xfrm>
          <a:prstGeom prst="rect">
            <a:avLst/>
          </a:prstGeom>
          <a:noFill/>
          <a:ln/>
        </p:spPr>
        <p:txBody>
          <a:bodyPr wrap="square" rtlCol="0" anchor="ctr"/>
          <a:lstStyle/>
          <a:p>
            <a:pPr algn="ctr" indent="0" marL="0">
              <a:buNone/>
            </a:pPr>
            <a:r>
              <a:rPr lang="en-US" sz="1400" b="1" dirty="0">
                <a:solidFill>
                  <a:srgbClr val="241145"/>
                </a:solidFill>
                <a:latin typeface="Arial" pitchFamily="34" charset="0"/>
                <a:ea typeface="Arial" pitchFamily="34" charset="-122"/>
                <a:cs typeface="Arial" pitchFamily="34" charset="-120"/>
              </a:rPr>
              <a:t>8</a:t>
            </a:r>
            <a:endParaRPr lang="en-US" sz="1400" dirty="0"/>
          </a:p>
        </p:txBody>
      </p:sp>
      <p:sp>
        <p:nvSpPr>
          <p:cNvPr id="26" name="Text 24"/>
          <p:cNvSpPr/>
          <p:nvPr/>
        </p:nvSpPr>
        <p:spPr>
          <a:xfrm>
            <a:off x="6903720" y="331012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MATLAB Implementation (Bonus)</a:t>
            </a:r>
            <a:endParaRPr lang="en-US" sz="1300" dirty="0"/>
          </a:p>
        </p:txBody>
      </p:sp>
      <p:sp>
        <p:nvSpPr>
          <p:cNvPr id="27" name="Shape 25"/>
          <p:cNvSpPr/>
          <p:nvPr/>
        </p:nvSpPr>
        <p:spPr>
          <a:xfrm>
            <a:off x="6309360" y="4160520"/>
            <a:ext cx="457200" cy="457200"/>
          </a:xfrm>
          <a:prstGeom prst="ellipse">
            <a:avLst/>
          </a:prstGeom>
          <a:solidFill>
            <a:srgbClr val="3E1F73"/>
          </a:solidFill>
          <a:ln/>
        </p:spPr>
      </p:sp>
      <p:sp>
        <p:nvSpPr>
          <p:cNvPr id="28" name="Text 26"/>
          <p:cNvSpPr/>
          <p:nvPr/>
        </p:nvSpPr>
        <p:spPr>
          <a:xfrm>
            <a:off x="6309360" y="41605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29" name="Text 27"/>
          <p:cNvSpPr/>
          <p:nvPr/>
        </p:nvSpPr>
        <p:spPr>
          <a:xfrm>
            <a:off x="6903720" y="417880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Results Comparison &amp; Discussion</a:t>
            </a:r>
            <a:endParaRPr lang="en-US" sz="1300" dirty="0"/>
          </a:p>
        </p:txBody>
      </p:sp>
      <p:sp>
        <p:nvSpPr>
          <p:cNvPr id="30" name="Shape 28"/>
          <p:cNvSpPr/>
          <p:nvPr/>
        </p:nvSpPr>
        <p:spPr>
          <a:xfrm>
            <a:off x="6309360" y="5029200"/>
            <a:ext cx="457200" cy="457200"/>
          </a:xfrm>
          <a:prstGeom prst="ellipse">
            <a:avLst/>
          </a:prstGeom>
          <a:solidFill>
            <a:srgbClr val="D4A017"/>
          </a:solidFill>
          <a:ln/>
        </p:spPr>
      </p:sp>
      <p:sp>
        <p:nvSpPr>
          <p:cNvPr id="31" name="Text 29"/>
          <p:cNvSpPr/>
          <p:nvPr/>
        </p:nvSpPr>
        <p:spPr>
          <a:xfrm>
            <a:off x="6309360" y="5029200"/>
            <a:ext cx="457200" cy="457200"/>
          </a:xfrm>
          <a:prstGeom prst="rect">
            <a:avLst/>
          </a:prstGeom>
          <a:noFill/>
          <a:ln/>
        </p:spPr>
        <p:txBody>
          <a:bodyPr wrap="square" rtlCol="0" anchor="ctr"/>
          <a:lstStyle/>
          <a:p>
            <a:pPr algn="ctr" indent="0" marL="0">
              <a:buNone/>
            </a:pPr>
            <a:r>
              <a:rPr lang="en-US" sz="1400" b="1" dirty="0">
                <a:solidFill>
                  <a:srgbClr val="241145"/>
                </a:solidFill>
                <a:latin typeface="Arial" pitchFamily="34" charset="0"/>
                <a:ea typeface="Arial" pitchFamily="34" charset="-122"/>
                <a:cs typeface="Arial" pitchFamily="34" charset="-120"/>
              </a:rPr>
              <a:t>10</a:t>
            </a:r>
            <a:endParaRPr lang="en-US" sz="1400" dirty="0"/>
          </a:p>
        </p:txBody>
      </p:sp>
      <p:sp>
        <p:nvSpPr>
          <p:cNvPr id="32" name="Text 30"/>
          <p:cNvSpPr/>
          <p:nvPr/>
        </p:nvSpPr>
        <p:spPr>
          <a:xfrm>
            <a:off x="6903720" y="5047488"/>
            <a:ext cx="5029200" cy="457200"/>
          </a:xfrm>
          <a:prstGeom prst="rect">
            <a:avLst/>
          </a:prstGeom>
          <a:noFill/>
          <a:ln/>
        </p:spPr>
        <p:txBody>
          <a:bodyPr wrap="square" rtlCol="0" anchor="ctr"/>
          <a:lstStyle/>
          <a:p>
            <a:pPr indent="0" marL="0">
              <a:buNone/>
            </a:pPr>
            <a:r>
              <a:rPr lang="en-US" sz="1300" dirty="0">
                <a:solidFill>
                  <a:srgbClr val="241145"/>
                </a:solidFill>
                <a:latin typeface="Arial" pitchFamily="34" charset="0"/>
                <a:ea typeface="Arial" pitchFamily="34" charset="-122"/>
                <a:cs typeface="Arial" pitchFamily="34" charset="-120"/>
              </a:rPr>
              <a:t>Conclusion &amp; Future Work</a:t>
            </a:r>
            <a:endParaRPr lang="en-US" sz="1300" dirty="0"/>
          </a:p>
        </p:txBody>
      </p:sp>
      <p:sp>
        <p:nvSpPr>
          <p:cNvPr id="33" name="Text 31"/>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34" name="Text 32"/>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Project Objectives &amp; Requirements</a:t>
            </a:r>
            <a:endParaRPr lang="en-US" sz="2800" dirty="0"/>
          </a:p>
        </p:txBody>
      </p:sp>
      <p:sp>
        <p:nvSpPr>
          <p:cNvPr id="3" name="Shape 1"/>
          <p:cNvSpPr/>
          <p:nvPr/>
        </p:nvSpPr>
        <p:spPr>
          <a:xfrm>
            <a:off x="548640" y="1417320"/>
            <a:ext cx="11064240" cy="1051560"/>
          </a:xfrm>
          <a:prstGeom prst="roundRect">
            <a:avLst>
              <a:gd name="adj" fmla="val 6957"/>
            </a:avLst>
          </a:prstGeom>
          <a:solidFill>
            <a:srgbClr val="FFFFFF"/>
          </a:solidFill>
          <a:ln w="12700">
            <a:solidFill>
              <a:srgbClr val="E7E1F2"/>
            </a:solidFill>
            <a:prstDash val="solid"/>
          </a:ln>
          <a:effectLst>
            <a:outerShdw sx="100000" sy="100000" kx="0" ky="0" algn="bl" rotWithShape="0" blurRad="76200" dist="25400" dir="5400000">
              <a:srgbClr val="3E1F73">
                <a:alpha val="12000"/>
              </a:srgbClr>
            </a:outerShdw>
          </a:effectLst>
        </p:spPr>
      </p:sp>
      <p:sp>
        <p:nvSpPr>
          <p:cNvPr id="4" name="Shape 2"/>
          <p:cNvSpPr/>
          <p:nvPr/>
        </p:nvSpPr>
        <p:spPr>
          <a:xfrm>
            <a:off x="548640" y="1417320"/>
            <a:ext cx="91440" cy="1051560"/>
          </a:xfrm>
          <a:prstGeom prst="rect">
            <a:avLst/>
          </a:prstGeom>
          <a:solidFill>
            <a:srgbClr val="3E1F73"/>
          </a:solidFill>
          <a:ln/>
        </p:spPr>
      </p:sp>
      <p:sp>
        <p:nvSpPr>
          <p:cNvPr id="5" name="Text 3"/>
          <p:cNvSpPr/>
          <p:nvPr/>
        </p:nvSpPr>
        <p:spPr>
          <a:xfrm>
            <a:off x="868680" y="1508760"/>
            <a:ext cx="10515600" cy="411480"/>
          </a:xfrm>
          <a:prstGeom prst="rect">
            <a:avLst/>
          </a:prstGeom>
          <a:noFill/>
          <a:ln/>
        </p:spPr>
        <p:txBody>
          <a:bodyPr wrap="square" rtlCol="0" anchor="ctr"/>
          <a:lstStyle/>
          <a:p>
            <a:pPr indent="0" marL="0">
              <a:buNone/>
            </a:pPr>
            <a:r>
              <a:rPr lang="en-US" sz="1700" b="1" dirty="0">
                <a:solidFill>
                  <a:srgbClr val="241145"/>
                </a:solidFill>
                <a:latin typeface="Arial" pitchFamily="34" charset="0"/>
                <a:ea typeface="Arial" pitchFamily="34" charset="-122"/>
                <a:cs typeface="Arial" pitchFamily="34" charset="-120"/>
              </a:rPr>
              <a:t>Build 3 Classification Models</a:t>
            </a:r>
            <a:endParaRPr lang="en-US" sz="1700" dirty="0"/>
          </a:p>
        </p:txBody>
      </p:sp>
      <p:sp>
        <p:nvSpPr>
          <p:cNvPr id="6" name="Text 4"/>
          <p:cNvSpPr/>
          <p:nvPr/>
        </p:nvSpPr>
        <p:spPr>
          <a:xfrm>
            <a:off x="868680" y="1920240"/>
            <a:ext cx="10515600" cy="45720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SVC, Decision Tree Classifier, and a TensorFlow Sequential neural network</a:t>
            </a:r>
            <a:endParaRPr lang="en-US" sz="1300" dirty="0"/>
          </a:p>
        </p:txBody>
      </p:sp>
      <p:sp>
        <p:nvSpPr>
          <p:cNvPr id="7" name="Shape 5"/>
          <p:cNvSpPr/>
          <p:nvPr/>
        </p:nvSpPr>
        <p:spPr>
          <a:xfrm>
            <a:off x="548640" y="2651760"/>
            <a:ext cx="11064240" cy="1051560"/>
          </a:xfrm>
          <a:prstGeom prst="roundRect">
            <a:avLst>
              <a:gd name="adj" fmla="val 6957"/>
            </a:avLst>
          </a:prstGeom>
          <a:solidFill>
            <a:srgbClr val="FFFFFF"/>
          </a:solidFill>
          <a:ln w="12700">
            <a:solidFill>
              <a:srgbClr val="E7E1F2"/>
            </a:solidFill>
            <a:prstDash val="solid"/>
          </a:ln>
          <a:effectLst>
            <a:outerShdw sx="100000" sy="100000" kx="0" ky="0" algn="bl" rotWithShape="0" blurRad="76200" dist="25400" dir="5400000">
              <a:srgbClr val="3E1F73">
                <a:alpha val="12000"/>
              </a:srgbClr>
            </a:outerShdw>
          </a:effectLst>
        </p:spPr>
      </p:sp>
      <p:sp>
        <p:nvSpPr>
          <p:cNvPr id="8" name="Shape 6"/>
          <p:cNvSpPr/>
          <p:nvPr/>
        </p:nvSpPr>
        <p:spPr>
          <a:xfrm>
            <a:off x="548640" y="2651760"/>
            <a:ext cx="91440" cy="1051560"/>
          </a:xfrm>
          <a:prstGeom prst="rect">
            <a:avLst/>
          </a:prstGeom>
          <a:solidFill>
            <a:srgbClr val="D4A017"/>
          </a:solidFill>
          <a:ln/>
        </p:spPr>
      </p:sp>
      <p:sp>
        <p:nvSpPr>
          <p:cNvPr id="9" name="Text 7"/>
          <p:cNvSpPr/>
          <p:nvPr/>
        </p:nvSpPr>
        <p:spPr>
          <a:xfrm>
            <a:off x="868680" y="2743200"/>
            <a:ext cx="10515600" cy="411480"/>
          </a:xfrm>
          <a:prstGeom prst="rect">
            <a:avLst/>
          </a:prstGeom>
          <a:noFill/>
          <a:ln/>
        </p:spPr>
        <p:txBody>
          <a:bodyPr wrap="square" rtlCol="0" anchor="ctr"/>
          <a:lstStyle/>
          <a:p>
            <a:pPr indent="0" marL="0">
              <a:buNone/>
            </a:pPr>
            <a:r>
              <a:rPr lang="en-US" sz="1700" b="1" dirty="0">
                <a:solidFill>
                  <a:srgbClr val="241145"/>
                </a:solidFill>
                <a:latin typeface="Arial" pitchFamily="34" charset="0"/>
                <a:ea typeface="Arial" pitchFamily="34" charset="-122"/>
                <a:cs typeface="Arial" pitchFamily="34" charset="-120"/>
              </a:rPr>
              <a:t>Use a Real Dataset (Not Iris)</a:t>
            </a:r>
            <a:endParaRPr lang="en-US" sz="1700" dirty="0"/>
          </a:p>
        </p:txBody>
      </p:sp>
      <p:sp>
        <p:nvSpPr>
          <p:cNvPr id="10" name="Text 8"/>
          <p:cNvSpPr/>
          <p:nvPr/>
        </p:nvSpPr>
        <p:spPr>
          <a:xfrm>
            <a:off x="868680" y="3154680"/>
            <a:ext cx="10515600" cy="45720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Selected the Breast Cancer Wisconsin (Diagnostic) Dataset - 569 real patient samples, 30 features, 2 classes</a:t>
            </a:r>
            <a:endParaRPr lang="en-US" sz="1300" dirty="0"/>
          </a:p>
        </p:txBody>
      </p:sp>
      <p:sp>
        <p:nvSpPr>
          <p:cNvPr id="11" name="Shape 9"/>
          <p:cNvSpPr/>
          <p:nvPr/>
        </p:nvSpPr>
        <p:spPr>
          <a:xfrm>
            <a:off x="548640" y="3886200"/>
            <a:ext cx="11064240" cy="1051560"/>
          </a:xfrm>
          <a:prstGeom prst="roundRect">
            <a:avLst>
              <a:gd name="adj" fmla="val 6957"/>
            </a:avLst>
          </a:prstGeom>
          <a:solidFill>
            <a:srgbClr val="FFFFFF"/>
          </a:solidFill>
          <a:ln w="12700">
            <a:solidFill>
              <a:srgbClr val="E7E1F2"/>
            </a:solidFill>
            <a:prstDash val="solid"/>
          </a:ln>
          <a:effectLst>
            <a:outerShdw sx="100000" sy="100000" kx="0" ky="0" algn="bl" rotWithShape="0" blurRad="76200" dist="25400" dir="5400000">
              <a:srgbClr val="3E1F73">
                <a:alpha val="12000"/>
              </a:srgbClr>
            </a:outerShdw>
          </a:effectLst>
        </p:spPr>
      </p:sp>
      <p:sp>
        <p:nvSpPr>
          <p:cNvPr id="12" name="Shape 10"/>
          <p:cNvSpPr/>
          <p:nvPr/>
        </p:nvSpPr>
        <p:spPr>
          <a:xfrm>
            <a:off x="548640" y="3886200"/>
            <a:ext cx="91440" cy="1051560"/>
          </a:xfrm>
          <a:prstGeom prst="rect">
            <a:avLst/>
          </a:prstGeom>
          <a:solidFill>
            <a:srgbClr val="3E1F73"/>
          </a:solidFill>
          <a:ln/>
        </p:spPr>
      </p:sp>
      <p:sp>
        <p:nvSpPr>
          <p:cNvPr id="13" name="Text 11"/>
          <p:cNvSpPr/>
          <p:nvPr/>
        </p:nvSpPr>
        <p:spPr>
          <a:xfrm>
            <a:off x="868680" y="3977640"/>
            <a:ext cx="10515600" cy="411480"/>
          </a:xfrm>
          <a:prstGeom prst="rect">
            <a:avLst/>
          </a:prstGeom>
          <a:noFill/>
          <a:ln/>
        </p:spPr>
        <p:txBody>
          <a:bodyPr wrap="square" rtlCol="0" anchor="ctr"/>
          <a:lstStyle/>
          <a:p>
            <a:pPr indent="0" marL="0">
              <a:buNone/>
            </a:pPr>
            <a:r>
              <a:rPr lang="en-US" sz="1700" b="1" dirty="0">
                <a:solidFill>
                  <a:srgbClr val="241145"/>
                </a:solidFill>
                <a:latin typeface="Arial" pitchFamily="34" charset="0"/>
                <a:ea typeface="Arial" pitchFamily="34" charset="-122"/>
                <a:cs typeface="Arial" pitchFamily="34" charset="-120"/>
              </a:rPr>
              <a:t>MATLAB Implementation (Bonus)</a:t>
            </a:r>
            <a:endParaRPr lang="en-US" sz="1700" dirty="0"/>
          </a:p>
        </p:txBody>
      </p:sp>
      <p:sp>
        <p:nvSpPr>
          <p:cNvPr id="14" name="Text 12"/>
          <p:cNvSpPr/>
          <p:nvPr/>
        </p:nvSpPr>
        <p:spPr>
          <a:xfrm>
            <a:off x="868680" y="4389120"/>
            <a:ext cx="10515600" cy="45720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Equivalent SVM and Decision Tree models re-implemented in MATLAB</a:t>
            </a:r>
            <a:endParaRPr lang="en-US" sz="1300" dirty="0"/>
          </a:p>
        </p:txBody>
      </p:sp>
      <p:sp>
        <p:nvSpPr>
          <p:cNvPr id="15" name="Shape 13"/>
          <p:cNvSpPr/>
          <p:nvPr/>
        </p:nvSpPr>
        <p:spPr>
          <a:xfrm>
            <a:off x="548640" y="5120640"/>
            <a:ext cx="11064240" cy="1051560"/>
          </a:xfrm>
          <a:prstGeom prst="roundRect">
            <a:avLst>
              <a:gd name="adj" fmla="val 6957"/>
            </a:avLst>
          </a:prstGeom>
          <a:solidFill>
            <a:srgbClr val="FFFFFF"/>
          </a:solidFill>
          <a:ln w="12700">
            <a:solidFill>
              <a:srgbClr val="E7E1F2"/>
            </a:solidFill>
            <a:prstDash val="solid"/>
          </a:ln>
          <a:effectLst>
            <a:outerShdw sx="100000" sy="100000" kx="0" ky="0" algn="bl" rotWithShape="0" blurRad="76200" dist="25400" dir="5400000">
              <a:srgbClr val="3E1F73">
                <a:alpha val="12000"/>
              </a:srgbClr>
            </a:outerShdw>
          </a:effectLst>
        </p:spPr>
      </p:sp>
      <p:sp>
        <p:nvSpPr>
          <p:cNvPr id="16" name="Shape 14"/>
          <p:cNvSpPr/>
          <p:nvPr/>
        </p:nvSpPr>
        <p:spPr>
          <a:xfrm>
            <a:off x="548640" y="5120640"/>
            <a:ext cx="91440" cy="1051560"/>
          </a:xfrm>
          <a:prstGeom prst="rect">
            <a:avLst/>
          </a:prstGeom>
          <a:solidFill>
            <a:srgbClr val="D4A017"/>
          </a:solidFill>
          <a:ln/>
        </p:spPr>
      </p:sp>
      <p:sp>
        <p:nvSpPr>
          <p:cNvPr id="17" name="Text 15"/>
          <p:cNvSpPr/>
          <p:nvPr/>
        </p:nvSpPr>
        <p:spPr>
          <a:xfrm>
            <a:off x="868680" y="5212080"/>
            <a:ext cx="10515600" cy="411480"/>
          </a:xfrm>
          <a:prstGeom prst="rect">
            <a:avLst/>
          </a:prstGeom>
          <a:noFill/>
          <a:ln/>
        </p:spPr>
        <p:txBody>
          <a:bodyPr wrap="square" rtlCol="0" anchor="ctr"/>
          <a:lstStyle/>
          <a:p>
            <a:pPr indent="0" marL="0">
              <a:buNone/>
            </a:pPr>
            <a:r>
              <a:rPr lang="en-US" sz="1700" b="1" dirty="0">
                <a:solidFill>
                  <a:srgbClr val="241145"/>
                </a:solidFill>
                <a:latin typeface="Arial" pitchFamily="34" charset="0"/>
                <a:ea typeface="Arial" pitchFamily="34" charset="-122"/>
                <a:cs typeface="Arial" pitchFamily="34" charset="-120"/>
              </a:rPr>
              <a:t>Full Presentation (Bonus)</a:t>
            </a:r>
            <a:endParaRPr lang="en-US" sz="1700" dirty="0"/>
          </a:p>
        </p:txBody>
      </p:sp>
      <p:sp>
        <p:nvSpPr>
          <p:cNvPr id="18" name="Text 16"/>
          <p:cNvSpPr/>
          <p:nvPr/>
        </p:nvSpPr>
        <p:spPr>
          <a:xfrm>
            <a:off x="868680" y="5623560"/>
            <a:ext cx="10515600" cy="45720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Documenting every step: data, methodology, results, and comparison</a:t>
            </a:r>
            <a:endParaRPr lang="en-US" sz="1300" dirty="0"/>
          </a:p>
        </p:txBody>
      </p:sp>
      <p:sp>
        <p:nvSpPr>
          <p:cNvPr id="19" name="Text 17"/>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0" name="Text 18"/>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Dataset: Breast Cancer Wisconsin (Diagnostic)</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A real, verified, publicly available medical dataset - not Iris</a:t>
            </a:r>
            <a:endParaRPr lang="en-US" sz="1300" dirty="0"/>
          </a:p>
        </p:txBody>
      </p:sp>
      <p:sp>
        <p:nvSpPr>
          <p:cNvPr id="4" name="Shape 2"/>
          <p:cNvSpPr/>
          <p:nvPr/>
        </p:nvSpPr>
        <p:spPr>
          <a:xfrm>
            <a:off x="548640" y="1508760"/>
            <a:ext cx="2606040" cy="1188720"/>
          </a:xfrm>
          <a:prstGeom prst="roundRect">
            <a:avLst>
              <a:gd name="adj" fmla="val 7692"/>
            </a:avLst>
          </a:prstGeom>
          <a:solidFill>
            <a:srgbClr val="241145"/>
          </a:solidFill>
          <a:ln/>
        </p:spPr>
      </p:sp>
      <p:sp>
        <p:nvSpPr>
          <p:cNvPr id="5" name="Text 3"/>
          <p:cNvSpPr/>
          <p:nvPr/>
        </p:nvSpPr>
        <p:spPr>
          <a:xfrm>
            <a:off x="548640" y="1627632"/>
            <a:ext cx="2606040" cy="548640"/>
          </a:xfrm>
          <a:prstGeom prst="rect">
            <a:avLst/>
          </a:prstGeom>
          <a:noFill/>
          <a:ln/>
        </p:spPr>
        <p:txBody>
          <a:bodyPr wrap="square" rtlCol="0" anchor="ctr"/>
          <a:lstStyle/>
          <a:p>
            <a:pPr algn="ctr" indent="0" marL="0">
              <a:buNone/>
            </a:pPr>
            <a:r>
              <a:rPr lang="en-US" sz="3000" b="1" dirty="0">
                <a:solidFill>
                  <a:srgbClr val="F2C94C"/>
                </a:solidFill>
                <a:latin typeface="Arial" pitchFamily="34" charset="0"/>
                <a:ea typeface="Arial" pitchFamily="34" charset="-122"/>
                <a:cs typeface="Arial" pitchFamily="34" charset="-120"/>
              </a:rPr>
              <a:t>569</a:t>
            </a:r>
            <a:endParaRPr lang="en-US" sz="3000" dirty="0"/>
          </a:p>
        </p:txBody>
      </p:sp>
      <p:sp>
        <p:nvSpPr>
          <p:cNvPr id="6" name="Text 4"/>
          <p:cNvSpPr/>
          <p:nvPr/>
        </p:nvSpPr>
        <p:spPr>
          <a:xfrm>
            <a:off x="548640" y="2176272"/>
            <a:ext cx="260604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Samples (Patients)</a:t>
            </a:r>
            <a:endParaRPr lang="en-US" sz="1200" dirty="0"/>
          </a:p>
        </p:txBody>
      </p:sp>
      <p:sp>
        <p:nvSpPr>
          <p:cNvPr id="7" name="Shape 5"/>
          <p:cNvSpPr/>
          <p:nvPr/>
        </p:nvSpPr>
        <p:spPr>
          <a:xfrm>
            <a:off x="3337560" y="1508760"/>
            <a:ext cx="2606040" cy="1188720"/>
          </a:xfrm>
          <a:prstGeom prst="roundRect">
            <a:avLst>
              <a:gd name="adj" fmla="val 7692"/>
            </a:avLst>
          </a:prstGeom>
          <a:solidFill>
            <a:srgbClr val="241145"/>
          </a:solidFill>
          <a:ln/>
        </p:spPr>
      </p:sp>
      <p:sp>
        <p:nvSpPr>
          <p:cNvPr id="8" name="Text 6"/>
          <p:cNvSpPr/>
          <p:nvPr/>
        </p:nvSpPr>
        <p:spPr>
          <a:xfrm>
            <a:off x="3337560" y="1627632"/>
            <a:ext cx="2606040" cy="548640"/>
          </a:xfrm>
          <a:prstGeom prst="rect">
            <a:avLst/>
          </a:prstGeom>
          <a:noFill/>
          <a:ln/>
        </p:spPr>
        <p:txBody>
          <a:bodyPr wrap="square" rtlCol="0" anchor="ctr"/>
          <a:lstStyle/>
          <a:p>
            <a:pPr algn="ctr" indent="0" marL="0">
              <a:buNone/>
            </a:pPr>
            <a:r>
              <a:rPr lang="en-US" sz="3000" b="1" dirty="0">
                <a:solidFill>
                  <a:srgbClr val="F2C94C"/>
                </a:solidFill>
                <a:latin typeface="Arial" pitchFamily="34" charset="0"/>
                <a:ea typeface="Arial" pitchFamily="34" charset="-122"/>
                <a:cs typeface="Arial" pitchFamily="34" charset="-120"/>
              </a:rPr>
              <a:t>30</a:t>
            </a:r>
            <a:endParaRPr lang="en-US" sz="3000" dirty="0"/>
          </a:p>
        </p:txBody>
      </p:sp>
      <p:sp>
        <p:nvSpPr>
          <p:cNvPr id="9" name="Text 7"/>
          <p:cNvSpPr/>
          <p:nvPr/>
        </p:nvSpPr>
        <p:spPr>
          <a:xfrm>
            <a:off x="3337560" y="2176272"/>
            <a:ext cx="260604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Features</a:t>
            </a:r>
            <a:endParaRPr lang="en-US" sz="1200" dirty="0"/>
          </a:p>
        </p:txBody>
      </p:sp>
      <p:sp>
        <p:nvSpPr>
          <p:cNvPr id="10" name="Shape 8"/>
          <p:cNvSpPr/>
          <p:nvPr/>
        </p:nvSpPr>
        <p:spPr>
          <a:xfrm>
            <a:off x="6126480" y="1508760"/>
            <a:ext cx="2606040" cy="1188720"/>
          </a:xfrm>
          <a:prstGeom prst="roundRect">
            <a:avLst>
              <a:gd name="adj" fmla="val 7692"/>
            </a:avLst>
          </a:prstGeom>
          <a:solidFill>
            <a:srgbClr val="241145"/>
          </a:solidFill>
          <a:ln/>
        </p:spPr>
      </p:sp>
      <p:sp>
        <p:nvSpPr>
          <p:cNvPr id="11" name="Text 9"/>
          <p:cNvSpPr/>
          <p:nvPr/>
        </p:nvSpPr>
        <p:spPr>
          <a:xfrm>
            <a:off x="6126480" y="1627632"/>
            <a:ext cx="2606040" cy="548640"/>
          </a:xfrm>
          <a:prstGeom prst="rect">
            <a:avLst/>
          </a:prstGeom>
          <a:noFill/>
          <a:ln/>
        </p:spPr>
        <p:txBody>
          <a:bodyPr wrap="square" rtlCol="0" anchor="ctr"/>
          <a:lstStyle/>
          <a:p>
            <a:pPr algn="ctr" indent="0" marL="0">
              <a:buNone/>
            </a:pPr>
            <a:r>
              <a:rPr lang="en-US" sz="3000" b="1" dirty="0">
                <a:solidFill>
                  <a:srgbClr val="F2C94C"/>
                </a:solidFill>
                <a:latin typeface="Arial" pitchFamily="34" charset="0"/>
                <a:ea typeface="Arial" pitchFamily="34" charset="-122"/>
                <a:cs typeface="Arial" pitchFamily="34" charset="-120"/>
              </a:rPr>
              <a:t>2</a:t>
            </a:r>
            <a:endParaRPr lang="en-US" sz="3000" dirty="0"/>
          </a:p>
        </p:txBody>
      </p:sp>
      <p:sp>
        <p:nvSpPr>
          <p:cNvPr id="12" name="Text 10"/>
          <p:cNvSpPr/>
          <p:nvPr/>
        </p:nvSpPr>
        <p:spPr>
          <a:xfrm>
            <a:off x="6126480" y="2176272"/>
            <a:ext cx="260604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Classes</a:t>
            </a:r>
            <a:endParaRPr lang="en-US" sz="1200" dirty="0"/>
          </a:p>
        </p:txBody>
      </p:sp>
      <p:sp>
        <p:nvSpPr>
          <p:cNvPr id="13" name="Shape 11"/>
          <p:cNvSpPr/>
          <p:nvPr/>
        </p:nvSpPr>
        <p:spPr>
          <a:xfrm>
            <a:off x="8915400" y="1508760"/>
            <a:ext cx="2606040" cy="1188720"/>
          </a:xfrm>
          <a:prstGeom prst="roundRect">
            <a:avLst>
              <a:gd name="adj" fmla="val 7692"/>
            </a:avLst>
          </a:prstGeom>
          <a:solidFill>
            <a:srgbClr val="241145"/>
          </a:solidFill>
          <a:ln/>
        </p:spPr>
      </p:sp>
      <p:sp>
        <p:nvSpPr>
          <p:cNvPr id="14" name="Text 12"/>
          <p:cNvSpPr/>
          <p:nvPr/>
        </p:nvSpPr>
        <p:spPr>
          <a:xfrm>
            <a:off x="8915400" y="1627632"/>
            <a:ext cx="2606040" cy="548640"/>
          </a:xfrm>
          <a:prstGeom prst="rect">
            <a:avLst/>
          </a:prstGeom>
          <a:noFill/>
          <a:ln/>
        </p:spPr>
        <p:txBody>
          <a:bodyPr wrap="square" rtlCol="0" anchor="ctr"/>
          <a:lstStyle/>
          <a:p>
            <a:pPr algn="ctr" indent="0" marL="0">
              <a:buNone/>
            </a:pPr>
            <a:r>
              <a:rPr lang="en-US" sz="3000" b="1" dirty="0">
                <a:solidFill>
                  <a:srgbClr val="F2C94C"/>
                </a:solidFill>
                <a:latin typeface="Arial" pitchFamily="34" charset="0"/>
                <a:ea typeface="Arial" pitchFamily="34" charset="-122"/>
                <a:cs typeface="Arial" pitchFamily="34" charset="-120"/>
              </a:rPr>
              <a:t>0</a:t>
            </a:r>
            <a:endParaRPr lang="en-US" sz="3000" dirty="0"/>
          </a:p>
        </p:txBody>
      </p:sp>
      <p:sp>
        <p:nvSpPr>
          <p:cNvPr id="15" name="Text 13"/>
          <p:cNvSpPr/>
          <p:nvPr/>
        </p:nvSpPr>
        <p:spPr>
          <a:xfrm>
            <a:off x="8915400" y="2176272"/>
            <a:ext cx="260604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Missing Values</a:t>
            </a:r>
            <a:endParaRPr lang="en-US" sz="1200" dirty="0"/>
          </a:p>
        </p:txBody>
      </p:sp>
      <p:sp>
        <p:nvSpPr>
          <p:cNvPr id="16" name="Shape 14"/>
          <p:cNvSpPr/>
          <p:nvPr/>
        </p:nvSpPr>
        <p:spPr>
          <a:xfrm>
            <a:off x="548640" y="2880360"/>
            <a:ext cx="11064240" cy="1737360"/>
          </a:xfrm>
          <a:prstGeom prst="roundRect">
            <a:avLst>
              <a:gd name="adj" fmla="val 5263"/>
            </a:avLst>
          </a:prstGeom>
          <a:solidFill>
            <a:srgbClr val="FFF7E0"/>
          </a:solidFill>
          <a:ln w="19050">
            <a:solidFill>
              <a:srgbClr val="D4A017"/>
            </a:solidFill>
            <a:prstDash val="solid"/>
          </a:ln>
        </p:spPr>
      </p:sp>
      <p:sp>
        <p:nvSpPr>
          <p:cNvPr id="17" name="Text 15"/>
          <p:cNvSpPr/>
          <p:nvPr/>
        </p:nvSpPr>
        <p:spPr>
          <a:xfrm>
            <a:off x="822960" y="2999232"/>
            <a:ext cx="5486400" cy="320040"/>
          </a:xfrm>
          <a:prstGeom prst="rect">
            <a:avLst/>
          </a:prstGeom>
          <a:noFill/>
          <a:ln/>
        </p:spPr>
        <p:txBody>
          <a:bodyPr wrap="square" rtlCol="0" anchor="ctr"/>
          <a:lstStyle/>
          <a:p>
            <a:pPr indent="0" marL="0">
              <a:buNone/>
            </a:pPr>
            <a:r>
              <a:rPr lang="en-US" sz="1200" b="1" spc="100" kern="0" dirty="0">
                <a:solidFill>
                  <a:srgbClr val="241145"/>
                </a:solidFill>
                <a:latin typeface="Arial" pitchFamily="34" charset="0"/>
                <a:ea typeface="Arial" pitchFamily="34" charset="-122"/>
                <a:cs typeface="Arial" pitchFamily="34" charset="-120"/>
              </a:rPr>
              <a:t>VERIFIED SOURCE</a:t>
            </a:r>
            <a:endParaRPr lang="en-US" sz="1200" dirty="0"/>
          </a:p>
        </p:txBody>
      </p:sp>
      <p:sp>
        <p:nvSpPr>
          <p:cNvPr id="18" name="Text 16"/>
          <p:cNvSpPr/>
          <p:nvPr/>
        </p:nvSpPr>
        <p:spPr>
          <a:xfrm>
            <a:off x="822960" y="3364992"/>
            <a:ext cx="10515600" cy="1188720"/>
          </a:xfrm>
          <a:prstGeom prst="rect">
            <a:avLst/>
          </a:prstGeom>
          <a:noFill/>
          <a:ln/>
        </p:spPr>
        <p:txBody>
          <a:bodyPr wrap="square" rtlCol="0" anchor="t"/>
          <a:lstStyle/>
          <a:p>
            <a:pPr indent="0" marL="0">
              <a:buNone/>
            </a:pPr>
            <a:r>
              <a:rPr lang="en-US" sz="1350" b="1" dirty="0">
                <a:solidFill>
                  <a:srgbClr val="241145"/>
                </a:solidFill>
                <a:latin typeface="Arial" pitchFamily="34" charset="0"/>
                <a:ea typeface="Arial" pitchFamily="34" charset="-122"/>
                <a:cs typeface="Arial" pitchFamily="34" charset="-120"/>
              </a:rPr>
              <a:t>UCI Machine Learning Repository - "Breast Cancer Wisconsin (Diagnostic)" (ID: 17)
</a:t>
            </a:r>
            <a:endParaRPr lang="en-US" sz="1350" dirty="0"/>
          </a:p>
          <a:p>
            <a:pPr indent="0" marL="0">
              <a:buNone/>
            </a:pPr>
            <a:r>
              <a:rPr lang="en-US" sz="1150" dirty="0">
                <a:solidFill>
                  <a:srgbClr val="5B5470"/>
                </a:solidFill>
                <a:latin typeface="Arial" pitchFamily="34" charset="0"/>
                <a:ea typeface="Arial" pitchFamily="34" charset="-122"/>
                <a:cs typeface="Arial" pitchFamily="34" charset="-120"/>
              </a:rPr>
              <a:t>Authors: Wolberg, W., Mangasarian, O., Street, N., &amp; Street, W. (1993). UCI Machine Learning Repository.
</a:t>
            </a:r>
            <a:endParaRPr lang="en-US" sz="1350" dirty="0"/>
          </a:p>
          <a:p>
            <a:pPr indent="0" marL="0">
              <a:buNone/>
            </a:pPr>
            <a:r>
              <a:rPr lang="en-US" sz="1150" dirty="0">
                <a:solidFill>
                  <a:srgbClr val="5B5470"/>
                </a:solidFill>
                <a:latin typeface="Arial" pitchFamily="34" charset="0"/>
                <a:ea typeface="Arial" pitchFamily="34" charset="-122"/>
                <a:cs typeface="Arial" pitchFamily="34" charset="-120"/>
              </a:rPr>
              <a:t>DOI: https://doi.org/10.24432/C5DW2B   |   License: CC BY 4.0
</a:t>
            </a:r>
            <a:endParaRPr lang="en-US" sz="1350" dirty="0"/>
          </a:p>
          <a:p>
            <a:pPr indent="0" marL="0">
              <a:buNone/>
            </a:pPr>
            <a:r>
              <a:rPr lang="en-US" sz="1200" b="1" dirty="0">
                <a:solidFill>
                  <a:srgbClr val="3E1F73"/>
                </a:solidFill>
                <a:latin typeface="Arial" pitchFamily="34" charset="0"/>
                <a:ea typeface="Arial" pitchFamily="34" charset="-122"/>
                <a:cs typeface="Arial" pitchFamily="34" charset="-120"/>
              </a:rPr>
              <a:t>Link: https://archive.ics.uci.edu/dataset/17/breast+cancer+wisconsin+diagnostic</a:t>
            </a:r>
            <a:endParaRPr lang="en-US" sz="1350" dirty="0"/>
          </a:p>
        </p:txBody>
      </p:sp>
      <p:sp>
        <p:nvSpPr>
          <p:cNvPr id="19" name="Text 17"/>
          <p:cNvSpPr/>
          <p:nvPr/>
        </p:nvSpPr>
        <p:spPr>
          <a:xfrm>
            <a:off x="548640" y="4754880"/>
            <a:ext cx="11064240" cy="365760"/>
          </a:xfrm>
          <a:prstGeom prst="rect">
            <a:avLst/>
          </a:prstGeom>
          <a:noFill/>
          <a:ln/>
        </p:spPr>
        <p:txBody>
          <a:bodyPr wrap="square" rtlCol="0" anchor="ctr"/>
          <a:lstStyle/>
          <a:p>
            <a:pPr indent="0" marL="0">
              <a:buNone/>
            </a:pPr>
            <a:r>
              <a:rPr lang="en-US" sz="1200" i="1" dirty="0">
                <a:solidFill>
                  <a:srgbClr val="5B5470"/>
                </a:solidFill>
                <a:latin typeface="Arial" pitchFamily="34" charset="0"/>
                <a:ea typeface="Arial" pitchFamily="34" charset="-122"/>
                <a:cs typeface="Arial" pitchFamily="34" charset="-120"/>
              </a:rPr>
              <a:t>Loaded in Python via: sklearn.datasets.load_breast_cancer()  (mirrors the exact same UCI data)</a:t>
            </a:r>
            <a:endParaRPr lang="en-US" sz="1200" dirty="0"/>
          </a:p>
        </p:txBody>
      </p:sp>
      <p:sp>
        <p:nvSpPr>
          <p:cNvPr id="20" name="Text 18"/>
          <p:cNvSpPr/>
          <p:nvPr/>
        </p:nvSpPr>
        <p:spPr>
          <a:xfrm>
            <a:off x="548640" y="5166360"/>
            <a:ext cx="11064240" cy="1005840"/>
          </a:xfrm>
          <a:prstGeom prst="rect">
            <a:avLst/>
          </a:prstGeom>
          <a:noFill/>
          <a:ln/>
        </p:spPr>
        <p:txBody>
          <a:bodyPr wrap="square" rtlCol="0" anchor="t"/>
          <a:lstStyle/>
          <a:p>
            <a:pPr indent="0" marL="0">
              <a:buNone/>
            </a:pPr>
            <a:r>
              <a:rPr lang="en-US" sz="1250" dirty="0">
                <a:solidFill>
                  <a:srgbClr val="241145"/>
                </a:solidFill>
                <a:latin typeface="Arial" pitchFamily="34" charset="0"/>
                <a:ea typeface="Arial" pitchFamily="34" charset="-122"/>
                <a:cs typeface="Arial" pitchFamily="34" charset="-120"/>
              </a:rPr>
              <a:t>Background: Features are computed from a digitized image of a Fine Needle Aspirate (FNA) of a breast mass, describing characteristics of cell nuclei (radius, texture, perimeter, smoothness, concavity, etc.). Used to classify a tumor as malignant or benign.</a:t>
            </a:r>
            <a:endParaRPr lang="en-US" sz="1250" dirty="0"/>
          </a:p>
        </p:txBody>
      </p:sp>
      <p:sp>
        <p:nvSpPr>
          <p:cNvPr id="21" name="Text 19"/>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Exploratory Data Analysis</a:t>
            </a:r>
            <a:endParaRPr lang="en-US" sz="2800" dirty="0"/>
          </a:p>
        </p:txBody>
      </p:sp>
      <p:sp>
        <p:nvSpPr>
          <p:cNvPr id="3" name="Text 1"/>
          <p:cNvSpPr/>
          <p:nvPr/>
        </p:nvSpPr>
        <p:spPr>
          <a:xfrm>
            <a:off x="548640" y="1371600"/>
            <a:ext cx="512064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Class Distribution:</a:t>
            </a:r>
            <a:endParaRPr lang="en-US" sz="1500" dirty="0"/>
          </a:p>
        </p:txBody>
      </p:sp>
      <p:graphicFrame>
        <p:nvGraphicFramePr>
          <p:cNvPr id="4" name="Chart 0" descr=""/>
          <p:cNvGraphicFramePr/>
          <p:nvPr/>
        </p:nvGraphicFramePr>
        <p:xfrm>
          <a:off x="548640" y="1783080"/>
          <a:ext cx="5120640" cy="2468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4343400"/>
            <a:ext cx="5120640" cy="548640"/>
          </a:xfrm>
          <a:prstGeom prst="rect">
            <a:avLst/>
          </a:prstGeom>
          <a:noFill/>
          <a:ln/>
        </p:spPr>
        <p:txBody>
          <a:bodyPr wrap="square" rtlCol="0" anchor="ctr"/>
          <a:lstStyle/>
          <a:p>
            <a:pPr indent="0" marL="0">
              <a:buNone/>
            </a:pPr>
            <a:r>
              <a:rPr lang="en-US" sz="1150" i="1" dirty="0">
                <a:solidFill>
                  <a:srgbClr val="5B5470"/>
                </a:solidFill>
                <a:latin typeface="Arial" pitchFamily="34" charset="0"/>
                <a:ea typeface="Arial" pitchFamily="34" charset="-122"/>
                <a:cs typeface="Arial" pitchFamily="34" charset="-120"/>
              </a:rPr>
              <a:t>Moderately imbalanced (62.7% benign / 37.3% malignant) - handled via stratified train/test split.</a:t>
            </a:r>
            <a:endParaRPr lang="en-US" sz="1150" dirty="0"/>
          </a:p>
        </p:txBody>
      </p:sp>
      <p:sp>
        <p:nvSpPr>
          <p:cNvPr id="6" name="Text 3"/>
          <p:cNvSpPr/>
          <p:nvPr/>
        </p:nvSpPr>
        <p:spPr>
          <a:xfrm>
            <a:off x="6309360" y="1371600"/>
            <a:ext cx="530352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Key Feature Groups (30 total):</a:t>
            </a:r>
            <a:endParaRPr lang="en-US" sz="1500" dirty="0"/>
          </a:p>
        </p:txBody>
      </p:sp>
      <p:sp>
        <p:nvSpPr>
          <p:cNvPr id="7" name="Text 4"/>
          <p:cNvSpPr/>
          <p:nvPr/>
        </p:nvSpPr>
        <p:spPr>
          <a:xfrm>
            <a:off x="6309360" y="1783080"/>
            <a:ext cx="5303520" cy="3291840"/>
          </a:xfrm>
          <a:prstGeom prst="rect">
            <a:avLst/>
          </a:prstGeom>
          <a:noFill/>
          <a:ln/>
        </p:spPr>
        <p:txBody>
          <a:bodyPr wrap="square" rtlCol="0" anchor="ctr"/>
          <a:lstStyle/>
          <a:p>
            <a:pPr marL="342900" indent="-342900">
              <a:buSzPct val="100000"/>
              <a:buChar char="•"/>
            </a:pPr>
            <a:r>
              <a:rPr lang="en-US" sz="1250" dirty="0">
                <a:solidFill>
                  <a:srgbClr val="241145"/>
                </a:solidFill>
                <a:latin typeface="Arial" pitchFamily="34" charset="0"/>
                <a:ea typeface="Arial" pitchFamily="34" charset="-122"/>
                <a:cs typeface="Arial" pitchFamily="34" charset="-120"/>
              </a:rPr>
              <a:t>Mean values: radius, texture, perimeter, area, smoothness</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Standard error: radius error, texture error, area error...</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"Worst" (largest) values: worst radius, worst perimeter, worst area...</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Shape features: compactness, concavity, concave points</a:t>
            </a:r>
            <a:endParaRPr lang="en-US" sz="1250" dirty="0"/>
          </a:p>
          <a:p>
            <a:pPr marL="342900" indent="-342900">
              <a:buSzPct val="100000"/>
              <a:buChar char="•"/>
            </a:pPr>
            <a:r>
              <a:rPr lang="en-US" sz="1250" dirty="0">
                <a:solidFill>
                  <a:srgbClr val="241145"/>
                </a:solidFill>
                <a:latin typeface="Arial" pitchFamily="34" charset="0"/>
                <a:ea typeface="Arial" pitchFamily="34" charset="-122"/>
                <a:cs typeface="Arial" pitchFamily="34" charset="-120"/>
              </a:rPr>
              <a:t>Symmetry &amp; fractal dimension</a:t>
            </a:r>
            <a:endParaRPr lang="en-US" sz="1250" dirty="0"/>
          </a:p>
        </p:txBody>
      </p:sp>
      <p:sp>
        <p:nvSpPr>
          <p:cNvPr id="8" name="Text 5"/>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6"/>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Methodology &amp; Preprocessing Pipeline</a:t>
            </a:r>
            <a:endParaRPr lang="en-US" sz="2800" dirty="0"/>
          </a:p>
        </p:txBody>
      </p:sp>
      <p:sp>
        <p:nvSpPr>
          <p:cNvPr id="3" name="Shape 1"/>
          <p:cNvSpPr/>
          <p:nvPr/>
        </p:nvSpPr>
        <p:spPr>
          <a:xfrm>
            <a:off x="548640" y="1417320"/>
            <a:ext cx="502920" cy="502920"/>
          </a:xfrm>
          <a:prstGeom prst="ellipse">
            <a:avLst/>
          </a:prstGeom>
          <a:solidFill>
            <a:srgbClr val="3E1F73"/>
          </a:solidFill>
          <a:ln/>
        </p:spPr>
      </p:sp>
      <p:sp>
        <p:nvSpPr>
          <p:cNvPr id="4" name="Text 2"/>
          <p:cNvSpPr/>
          <p:nvPr/>
        </p:nvSpPr>
        <p:spPr>
          <a:xfrm>
            <a:off x="54864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144475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Load the Breast Cancer dataset (569 samples x 30 features)</a:t>
            </a:r>
            <a:endParaRPr lang="en-US" sz="1500" dirty="0"/>
          </a:p>
        </p:txBody>
      </p:sp>
      <p:sp>
        <p:nvSpPr>
          <p:cNvPr id="6" name="Shape 4"/>
          <p:cNvSpPr/>
          <p:nvPr/>
        </p:nvSpPr>
        <p:spPr>
          <a:xfrm>
            <a:off x="548640" y="2194560"/>
            <a:ext cx="502920" cy="502920"/>
          </a:xfrm>
          <a:prstGeom prst="ellipse">
            <a:avLst/>
          </a:prstGeom>
          <a:solidFill>
            <a:srgbClr val="D4A017"/>
          </a:solidFill>
          <a:ln/>
        </p:spPr>
      </p:sp>
      <p:sp>
        <p:nvSpPr>
          <p:cNvPr id="7" name="Text 5"/>
          <p:cNvSpPr/>
          <p:nvPr/>
        </p:nvSpPr>
        <p:spPr>
          <a:xfrm>
            <a:off x="548640" y="21945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222199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Split into 80% training / 20% testing (Stratified Split, random_state=42)</a:t>
            </a:r>
            <a:endParaRPr lang="en-US" sz="1500" dirty="0"/>
          </a:p>
        </p:txBody>
      </p:sp>
      <p:sp>
        <p:nvSpPr>
          <p:cNvPr id="9" name="Shape 7"/>
          <p:cNvSpPr/>
          <p:nvPr/>
        </p:nvSpPr>
        <p:spPr>
          <a:xfrm>
            <a:off x="548640" y="2971800"/>
            <a:ext cx="502920" cy="502920"/>
          </a:xfrm>
          <a:prstGeom prst="ellipse">
            <a:avLst/>
          </a:prstGeom>
          <a:solidFill>
            <a:srgbClr val="3E1F73"/>
          </a:solidFill>
          <a:ln/>
        </p:spPr>
      </p:sp>
      <p:sp>
        <p:nvSpPr>
          <p:cNvPr id="10" name="Text 8"/>
          <p:cNvSpPr/>
          <p:nvPr/>
        </p:nvSpPr>
        <p:spPr>
          <a:xfrm>
            <a:off x="548640" y="29718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99923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Standardize features (StandardScaler) - mean 0, std 1</a:t>
            </a:r>
            <a:endParaRPr lang="en-US" sz="1500" dirty="0"/>
          </a:p>
        </p:txBody>
      </p:sp>
      <p:sp>
        <p:nvSpPr>
          <p:cNvPr id="12" name="Shape 10"/>
          <p:cNvSpPr/>
          <p:nvPr/>
        </p:nvSpPr>
        <p:spPr>
          <a:xfrm>
            <a:off x="548640" y="3749040"/>
            <a:ext cx="502920" cy="502920"/>
          </a:xfrm>
          <a:prstGeom prst="ellipse">
            <a:avLst/>
          </a:prstGeom>
          <a:solidFill>
            <a:srgbClr val="D4A017"/>
          </a:solidFill>
          <a:ln/>
        </p:spPr>
      </p:sp>
      <p:sp>
        <p:nvSpPr>
          <p:cNvPr id="13" name="Text 11"/>
          <p:cNvSpPr/>
          <p:nvPr/>
        </p:nvSpPr>
        <p:spPr>
          <a:xfrm>
            <a:off x="548640" y="37490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377647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Train all 3 models on the exact same training data</a:t>
            </a:r>
            <a:endParaRPr lang="en-US" sz="1500" dirty="0"/>
          </a:p>
        </p:txBody>
      </p:sp>
      <p:sp>
        <p:nvSpPr>
          <p:cNvPr id="15" name="Shape 13"/>
          <p:cNvSpPr/>
          <p:nvPr/>
        </p:nvSpPr>
        <p:spPr>
          <a:xfrm>
            <a:off x="548640" y="4526280"/>
            <a:ext cx="502920" cy="502920"/>
          </a:xfrm>
          <a:prstGeom prst="ellipse">
            <a:avLst/>
          </a:prstGeom>
          <a:solidFill>
            <a:srgbClr val="3E1F73"/>
          </a:solidFill>
          <a:ln/>
        </p:spPr>
      </p:sp>
      <p:sp>
        <p:nvSpPr>
          <p:cNvPr id="16" name="Text 14"/>
          <p:cNvSpPr/>
          <p:nvPr/>
        </p:nvSpPr>
        <p:spPr>
          <a:xfrm>
            <a:off x="548640" y="45262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455371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Evaluate each model with Accuracy, Confusion Matrix, and Classification Report</a:t>
            </a:r>
            <a:endParaRPr lang="en-US" sz="1500" dirty="0"/>
          </a:p>
        </p:txBody>
      </p:sp>
      <p:sp>
        <p:nvSpPr>
          <p:cNvPr id="18" name="Shape 16"/>
          <p:cNvSpPr/>
          <p:nvPr/>
        </p:nvSpPr>
        <p:spPr>
          <a:xfrm>
            <a:off x="548640" y="5303520"/>
            <a:ext cx="502920" cy="502920"/>
          </a:xfrm>
          <a:prstGeom prst="ellipse">
            <a:avLst/>
          </a:prstGeom>
          <a:solidFill>
            <a:srgbClr val="D4A017"/>
          </a:solidFill>
          <a:ln/>
        </p:spPr>
      </p:sp>
      <p:sp>
        <p:nvSpPr>
          <p:cNvPr id="19" name="Text 17"/>
          <p:cNvSpPr/>
          <p:nvPr/>
        </p:nvSpPr>
        <p:spPr>
          <a:xfrm>
            <a:off x="548640" y="53035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1234440" y="5330952"/>
            <a:ext cx="10058400" cy="457200"/>
          </a:xfrm>
          <a:prstGeom prst="rect">
            <a:avLst/>
          </a:prstGeom>
          <a:noFill/>
          <a:ln/>
        </p:spPr>
        <p:txBody>
          <a:bodyPr wrap="square" rtlCol="0" anchor="ctr"/>
          <a:lstStyle/>
          <a:p>
            <a:pPr indent="0" marL="0">
              <a:buNone/>
            </a:pPr>
            <a:r>
              <a:rPr lang="en-US" sz="1500" dirty="0">
                <a:solidFill>
                  <a:srgbClr val="241145"/>
                </a:solidFill>
                <a:latin typeface="Arial" pitchFamily="34" charset="0"/>
                <a:ea typeface="Arial" pitchFamily="34" charset="-122"/>
                <a:cs typeface="Arial" pitchFamily="34" charset="-120"/>
              </a:rPr>
              <a:t>Compare results across models and draw conclusions</a:t>
            </a:r>
            <a:endParaRPr lang="en-US" sz="1500" dirty="0"/>
          </a:p>
        </p:txBody>
      </p:sp>
      <p:sp>
        <p:nvSpPr>
          <p:cNvPr id="21" name="Text 19"/>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1: How SVC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Support Vector Classifier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indent="0" marL="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SVC finds the hyperplane that best separates malignant from benign cases by maximizing the margin - the distance between the boundary and the nearest data points from each class (support vectors).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Kernel trick: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Since tumor classes are not linearly separable in all 30 dimensions, we use the RBF (Radial Basis Function) kernel to map data into a higher-dimensional space where a linear separation becomes possible.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Why it fits this problem: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Works very well on clean, well-scaled, high-dimensional numeric data like cell nuclei measurements.</a:t>
            </a:r>
            <a:endParaRPr lang="en-US" sz="1400" dirty="0"/>
          </a:p>
        </p:txBody>
      </p:sp>
      <p:sp>
        <p:nvSpPr>
          <p:cNvPr id="5" name="Shape 3"/>
          <p:cNvSpPr/>
          <p:nvPr/>
        </p:nvSpPr>
        <p:spPr>
          <a:xfrm>
            <a:off x="7132320" y="1463040"/>
            <a:ext cx="4480560" cy="3291840"/>
          </a:xfrm>
          <a:prstGeom prst="roundRect">
            <a:avLst>
              <a:gd name="adj" fmla="val 2778"/>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indent="0" marL="0">
              <a:buNone/>
            </a:pPr>
            <a:r>
              <a:rPr lang="en-US" sz="1400" b="1" dirty="0">
                <a:solidFill>
                  <a:srgbClr val="F2C94C"/>
                </a:solidFill>
                <a:latin typeface="Arial" pitchFamily="34" charset="0"/>
                <a:ea typeface="Arial" pitchFamily="34" charset="-122"/>
                <a:cs typeface="Arial" pitchFamily="34" charset="-120"/>
              </a:rPr>
              <a:t>Hyperparameters Used</a:t>
            </a:r>
            <a:endParaRPr lang="en-US" sz="1400" dirty="0"/>
          </a:p>
        </p:txBody>
      </p:sp>
      <p:sp>
        <p:nvSpPr>
          <p:cNvPr id="7" name="Text 5"/>
          <p:cNvSpPr/>
          <p:nvPr/>
        </p:nvSpPr>
        <p:spPr>
          <a:xfrm>
            <a:off x="7406640" y="2103120"/>
            <a:ext cx="3931920" cy="2286000"/>
          </a:xfrm>
          <a:prstGeom prst="rect">
            <a:avLst/>
          </a:prstGeom>
          <a:noFill/>
          <a:ln/>
        </p:spPr>
        <p:txBody>
          <a:bodyPr wrap="square" rtlCol="0" anchor="t"/>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kernel = 'rbf'</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 = 1.0  (regularization strength)</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gamma = 'scale'</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random_state = 42</a:t>
            </a:r>
            <a:endParaRPr lang="en-US" sz="1300" dirty="0"/>
          </a:p>
        </p:txBody>
      </p:sp>
      <p:sp>
        <p:nvSpPr>
          <p:cNvPr id="8" name="Text 6"/>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1: SVC — Results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Executed and verified</a:t>
            </a:r>
            <a:endParaRPr lang="en-US" sz="1300" dirty="0"/>
          </a:p>
        </p:txBody>
      </p:sp>
      <p:sp>
        <p:nvSpPr>
          <p:cNvPr id="4" name="Shape 2"/>
          <p:cNvSpPr/>
          <p:nvPr/>
        </p:nvSpPr>
        <p:spPr>
          <a:xfrm>
            <a:off x="548640" y="1463040"/>
            <a:ext cx="5120640" cy="1280160"/>
          </a:xfrm>
          <a:prstGeom prst="roundRect">
            <a:avLst>
              <a:gd name="adj" fmla="val 7143"/>
            </a:avLst>
          </a:prstGeom>
          <a:solidFill>
            <a:srgbClr val="241145"/>
          </a:solidFill>
          <a:ln/>
        </p:spPr>
      </p:sp>
      <p:sp>
        <p:nvSpPr>
          <p:cNvPr id="5" name="Text 3"/>
          <p:cNvSpPr/>
          <p:nvPr/>
        </p:nvSpPr>
        <p:spPr>
          <a:xfrm>
            <a:off x="548640" y="1600200"/>
            <a:ext cx="5120640" cy="640080"/>
          </a:xfrm>
          <a:prstGeom prst="rect">
            <a:avLst/>
          </a:prstGeom>
          <a:noFill/>
          <a:ln/>
        </p:spPr>
        <p:txBody>
          <a:bodyPr wrap="square" rtlCol="0" anchor="ctr"/>
          <a:lstStyle/>
          <a:p>
            <a:pPr algn="ctr" indent="0" marL="0">
              <a:buNone/>
            </a:pPr>
            <a:r>
              <a:rPr lang="en-US" sz="3400" b="1" dirty="0">
                <a:solidFill>
                  <a:srgbClr val="F2C94C"/>
                </a:solidFill>
                <a:latin typeface="Arial" pitchFamily="34" charset="0"/>
                <a:ea typeface="Arial" pitchFamily="34" charset="-122"/>
                <a:cs typeface="Arial" pitchFamily="34" charset="-120"/>
              </a:rPr>
              <a:t>98.25%</a:t>
            </a:r>
            <a:endParaRPr lang="en-US" sz="3400" dirty="0"/>
          </a:p>
        </p:txBody>
      </p:sp>
      <p:sp>
        <p:nvSpPr>
          <p:cNvPr id="6" name="Text 4"/>
          <p:cNvSpPr/>
          <p:nvPr/>
        </p:nvSpPr>
        <p:spPr>
          <a:xfrm>
            <a:off x="548640" y="2240280"/>
            <a:ext cx="512064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Test Accuracy (112/114 correct)</a:t>
            </a:r>
            <a:endParaRPr lang="en-US" sz="1200" dirty="0"/>
          </a:p>
        </p:txBody>
      </p:sp>
      <p:sp>
        <p:nvSpPr>
          <p:cNvPr id="7" name="Text 5"/>
          <p:cNvSpPr/>
          <p:nvPr/>
        </p:nvSpPr>
        <p:spPr>
          <a:xfrm>
            <a:off x="548640" y="2926080"/>
            <a:ext cx="5120640" cy="228600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Trained on 455 samples, tested on 114 samples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Only 2 misclassifications out of 114 test cases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Precision / Recall / F1 all ≈ 0.98 (macro average)</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Highest accuracy among all 3 models</a:t>
            </a:r>
            <a:endParaRPr lang="en-US" sz="1300" dirty="0"/>
          </a:p>
        </p:txBody>
      </p:sp>
      <p:pic>
        <p:nvPicPr>
          <p:cNvPr id="8" name="Image 0" descr="confusion_matrices.png">    </p:cNvPr>
          <p:cNvPicPr>
            <a:picLocks noChangeAspect="1"/>
          </p:cNvPicPr>
          <p:nvPr/>
        </p:nvPicPr>
        <p:blipFill>
          <a:blip r:embed="rId1"/>
          <a:stretch>
            <a:fillRect/>
          </a:stretch>
        </p:blipFill>
        <p:spPr>
          <a:xfrm>
            <a:off x="5943600" y="1463040"/>
            <a:ext cx="5669280" cy="2331720"/>
          </a:xfrm>
          <a:prstGeom prst="rect">
            <a:avLst/>
          </a:prstGeom>
        </p:spPr>
      </p:pic>
      <p:sp>
        <p:nvSpPr>
          <p:cNvPr id="9" name="Text 6"/>
          <p:cNvSpPr/>
          <p:nvPr/>
        </p:nvSpPr>
        <p:spPr>
          <a:xfrm>
            <a:off x="5943600" y="3840480"/>
            <a:ext cx="5669280" cy="320040"/>
          </a:xfrm>
          <a:prstGeom prst="rect">
            <a:avLst/>
          </a:prstGeom>
          <a:noFill/>
          <a:ln/>
        </p:spPr>
        <p:txBody>
          <a:bodyPr wrap="square" rtlCol="0" anchor="ctr"/>
          <a:lstStyle/>
          <a:p>
            <a:pPr algn="ctr" indent="0" marL="0">
              <a:buNone/>
            </a:pPr>
            <a:r>
              <a:rPr lang="en-US" sz="1100" i="1" dirty="0">
                <a:solidFill>
                  <a:srgbClr val="5B5470"/>
                </a:solidFill>
                <a:latin typeface="Arial" pitchFamily="34" charset="0"/>
                <a:ea typeface="Arial" pitchFamily="34" charset="-122"/>
                <a:cs typeface="Arial" pitchFamily="34" charset="-120"/>
              </a:rPr>
              <a:t>Confusion Matrix — SVC (left) vs DTC (right)</a:t>
            </a:r>
            <a:endParaRPr lang="en-US" sz="1100" dirty="0"/>
          </a:p>
        </p:txBody>
      </p:sp>
      <p:sp>
        <p:nvSpPr>
          <p:cNvPr id="10" name="Text 7"/>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1" name="Text 8"/>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2: How Decision Tree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Decision Tree Classifier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indent="0" marL="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The tree splits the data recursively on the feature/threshold that best separates malignant from benign cases at each node, using Gini impurity to measure split quality (lower Gini = purer node).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Interpretability: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Unlike SVC, a Decision Tree can be visualized directly - clinically valuable, since a doctor can trace exactly which measurements drove a diagnosis.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Trade-off: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Deep trees can overfit; max_depth=4 limits complexity to keep the model generalizable.</a:t>
            </a:r>
            <a:endParaRPr lang="en-US" sz="1400" dirty="0"/>
          </a:p>
        </p:txBody>
      </p:sp>
      <p:sp>
        <p:nvSpPr>
          <p:cNvPr id="5" name="Shape 3"/>
          <p:cNvSpPr/>
          <p:nvPr/>
        </p:nvSpPr>
        <p:spPr>
          <a:xfrm>
            <a:off x="7132320" y="1463040"/>
            <a:ext cx="4480560" cy="2926080"/>
          </a:xfrm>
          <a:prstGeom prst="roundRect">
            <a:avLst>
              <a:gd name="adj" fmla="val 3125"/>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indent="0" marL="0">
              <a:buNone/>
            </a:pPr>
            <a:r>
              <a:rPr lang="en-US" sz="1400" b="1" dirty="0">
                <a:solidFill>
                  <a:srgbClr val="F2C94C"/>
                </a:solidFill>
                <a:latin typeface="Arial" pitchFamily="34" charset="0"/>
                <a:ea typeface="Arial" pitchFamily="34" charset="-122"/>
                <a:cs typeface="Arial" pitchFamily="34" charset="-120"/>
              </a:rPr>
              <a:t>Hyperparameters Used</a:t>
            </a:r>
            <a:endParaRPr lang="en-US" sz="1400" dirty="0"/>
          </a:p>
        </p:txBody>
      </p:sp>
      <p:sp>
        <p:nvSpPr>
          <p:cNvPr id="7" name="Text 5"/>
          <p:cNvSpPr/>
          <p:nvPr/>
        </p:nvSpPr>
        <p:spPr>
          <a:xfrm>
            <a:off x="7406640" y="2103120"/>
            <a:ext cx="3931920" cy="1828800"/>
          </a:xfrm>
          <a:prstGeom prst="rect">
            <a:avLst/>
          </a:prstGeom>
          <a:noFill/>
          <a:ln/>
        </p:spPr>
        <p:txBody>
          <a:bodyPr wrap="square" rtlCol="0" anchor="t"/>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criterion = 'gini' (default)</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max_depth = 4</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random_state = 42</a:t>
            </a:r>
            <a:endParaRPr lang="en-US" sz="1300" dirty="0"/>
          </a:p>
        </p:txBody>
      </p:sp>
      <p:sp>
        <p:nvSpPr>
          <p:cNvPr id="8" name="Text 6"/>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2: Decision Tree — Results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Executed and verified</a:t>
            </a:r>
            <a:endParaRPr lang="en-US" sz="1300" dirty="0"/>
          </a:p>
        </p:txBody>
      </p:sp>
      <p:sp>
        <p:nvSpPr>
          <p:cNvPr id="4" name="Shape 2"/>
          <p:cNvSpPr/>
          <p:nvPr/>
        </p:nvSpPr>
        <p:spPr>
          <a:xfrm>
            <a:off x="548640" y="1463040"/>
            <a:ext cx="4023360" cy="1097280"/>
          </a:xfrm>
          <a:prstGeom prst="roundRect">
            <a:avLst>
              <a:gd name="adj" fmla="val 8333"/>
            </a:avLst>
          </a:prstGeom>
          <a:solidFill>
            <a:srgbClr val="D4A017"/>
          </a:solidFill>
          <a:ln/>
        </p:spPr>
      </p:sp>
      <p:sp>
        <p:nvSpPr>
          <p:cNvPr id="5" name="Text 3"/>
          <p:cNvSpPr/>
          <p:nvPr/>
        </p:nvSpPr>
        <p:spPr>
          <a:xfrm>
            <a:off x="548640" y="1572768"/>
            <a:ext cx="4023360" cy="548640"/>
          </a:xfrm>
          <a:prstGeom prst="rect">
            <a:avLst/>
          </a:prstGeom>
          <a:noFill/>
          <a:ln/>
        </p:spPr>
        <p:txBody>
          <a:bodyPr wrap="square" rtlCol="0" anchor="ctr"/>
          <a:lstStyle/>
          <a:p>
            <a:pPr algn="ctr" indent="0" marL="0">
              <a:buNone/>
            </a:pPr>
            <a:r>
              <a:rPr lang="en-US" sz="2800" b="1" dirty="0">
                <a:solidFill>
                  <a:srgbClr val="241145"/>
                </a:solidFill>
                <a:latin typeface="Arial" pitchFamily="34" charset="0"/>
                <a:ea typeface="Arial" pitchFamily="34" charset="-122"/>
                <a:cs typeface="Arial" pitchFamily="34" charset="-120"/>
              </a:rPr>
              <a:t>93.86%</a:t>
            </a:r>
            <a:endParaRPr lang="en-US" sz="2800" dirty="0"/>
          </a:p>
        </p:txBody>
      </p:sp>
      <p:sp>
        <p:nvSpPr>
          <p:cNvPr id="6" name="Text 4"/>
          <p:cNvSpPr/>
          <p:nvPr/>
        </p:nvSpPr>
        <p:spPr>
          <a:xfrm>
            <a:off x="548640" y="2121408"/>
            <a:ext cx="4023360" cy="365760"/>
          </a:xfrm>
          <a:prstGeom prst="rect">
            <a:avLst/>
          </a:prstGeom>
          <a:noFill/>
          <a:ln/>
        </p:spPr>
        <p:txBody>
          <a:bodyPr wrap="square" rtlCol="0" anchor="ctr"/>
          <a:lstStyle/>
          <a:p>
            <a:pPr algn="ctr" indent="0" marL="0">
              <a:buNone/>
            </a:pPr>
            <a:r>
              <a:rPr lang="en-US" sz="1200" dirty="0">
                <a:solidFill>
                  <a:srgbClr val="241145"/>
                </a:solidFill>
                <a:latin typeface="Arial" pitchFamily="34" charset="0"/>
                <a:ea typeface="Arial" pitchFamily="34" charset="-122"/>
                <a:cs typeface="Arial" pitchFamily="34" charset="-120"/>
              </a:rPr>
              <a:t>Test Accuracy (107/114 correct)</a:t>
            </a:r>
            <a:endParaRPr lang="en-US" sz="1200" dirty="0"/>
          </a:p>
        </p:txBody>
      </p:sp>
      <p:sp>
        <p:nvSpPr>
          <p:cNvPr id="7" name="Text 5"/>
          <p:cNvSpPr/>
          <p:nvPr/>
        </p:nvSpPr>
        <p:spPr>
          <a:xfrm>
            <a:off x="548640" y="2743200"/>
            <a:ext cx="4023360" cy="182880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Root split: worst perimeter / worst concave points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F1-score (macro) ≈ 0.93</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More false negatives than SVC (clinically more costly)</a:t>
            </a:r>
            <a:endParaRPr lang="en-US" sz="1300" dirty="0"/>
          </a:p>
        </p:txBody>
      </p:sp>
      <p:pic>
        <p:nvPicPr>
          <p:cNvPr id="8" name="Image 0" descr="decision_tree.png">    </p:cNvPr>
          <p:cNvPicPr>
            <a:picLocks noChangeAspect="1"/>
          </p:cNvPicPr>
          <p:nvPr/>
        </p:nvPicPr>
        <p:blipFill>
          <a:blip r:embed="rId1"/>
          <a:stretch>
            <a:fillRect/>
          </a:stretch>
        </p:blipFill>
        <p:spPr>
          <a:xfrm>
            <a:off x="4846320" y="1417320"/>
            <a:ext cx="6766560" cy="3017520"/>
          </a:xfrm>
          <a:prstGeom prst="rect">
            <a:avLst/>
          </a:prstGeom>
        </p:spPr>
      </p:pic>
      <p:sp>
        <p:nvSpPr>
          <p:cNvPr id="9" name="Text 6"/>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0" name="Text 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3: How a Sequential Neural Network Works</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300" dirty="0">
                <a:solidFill>
                  <a:srgbClr val="5B5470"/>
                </a:solidFill>
                <a:latin typeface="Arial" pitchFamily="34" charset="0"/>
                <a:ea typeface="Arial" pitchFamily="34" charset="-122"/>
                <a:cs typeface="Arial" pitchFamily="34" charset="-120"/>
              </a:rPr>
              <a:t>TensorFlow / Keras - Theory</a:t>
            </a:r>
            <a:endParaRPr lang="en-US" sz="1300" dirty="0"/>
          </a:p>
        </p:txBody>
      </p:sp>
      <p:sp>
        <p:nvSpPr>
          <p:cNvPr id="4" name="Text 2"/>
          <p:cNvSpPr/>
          <p:nvPr/>
        </p:nvSpPr>
        <p:spPr>
          <a:xfrm>
            <a:off x="548640" y="1463040"/>
            <a:ext cx="6309360" cy="4572000"/>
          </a:xfrm>
          <a:prstGeom prst="rect">
            <a:avLst/>
          </a:prstGeom>
          <a:noFill/>
          <a:ln/>
        </p:spPr>
        <p:txBody>
          <a:bodyPr wrap="square" rtlCol="0" anchor="t"/>
          <a:lstStyle/>
          <a:p>
            <a:pPr indent="0" marL="0">
              <a:buNone/>
            </a:pPr>
            <a:r>
              <a:rPr lang="en-US" sz="1400" b="1" dirty="0">
                <a:solidFill>
                  <a:srgbClr val="241145"/>
                </a:solidFill>
                <a:latin typeface="Arial" pitchFamily="34" charset="0"/>
                <a:ea typeface="Arial" pitchFamily="34" charset="-122"/>
                <a:cs typeface="Arial" pitchFamily="34" charset="-120"/>
              </a:rPr>
              <a:t>Core idea: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A Sequential model stacks layers of artificial neurons. Each Dense layer applies a weighted sum + activation function, progressively learning nonlinear combinations of the 30 input features.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Dropout: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Randomly disables 30% of neurons during training to reduce overfitting on this moderately-sized dataset.
</a:t>
            </a:r>
            <a:endParaRPr lang="en-US" sz="1400" dirty="0"/>
          </a:p>
          <a:p>
            <a:pPr indent="0" marL="0">
              <a:buNone/>
            </a:pPr>
            <a:r>
              <a:rPr lang="en-US" sz="1400" b="1" dirty="0">
                <a:solidFill>
                  <a:srgbClr val="241145"/>
                </a:solidFill>
                <a:latin typeface="Arial" pitchFamily="34" charset="0"/>
                <a:ea typeface="Arial" pitchFamily="34" charset="-122"/>
                <a:cs typeface="Arial" pitchFamily="34" charset="-120"/>
              </a:rPr>
              <a:t>Sigmoid output: </a:t>
            </a:r>
            <a:endParaRPr lang="en-US" sz="1400" dirty="0"/>
          </a:p>
          <a:p>
            <a:pPr indent="0" marL="0">
              <a:buNone/>
            </a:pPr>
            <a:r>
              <a:rPr lang="en-US" sz="1400" dirty="0">
                <a:solidFill>
                  <a:srgbClr val="241145"/>
                </a:solidFill>
                <a:latin typeface="Arial" pitchFamily="34" charset="0"/>
                <a:ea typeface="Arial" pitchFamily="34" charset="-122"/>
                <a:cs typeface="Arial" pitchFamily="34" charset="-120"/>
              </a:rPr>
              <a:t>Since this is binary classification (malignant vs benign), the final layer outputs a single probability between 0 and 1.</a:t>
            </a:r>
            <a:endParaRPr lang="en-US" sz="1400" dirty="0"/>
          </a:p>
        </p:txBody>
      </p:sp>
      <p:sp>
        <p:nvSpPr>
          <p:cNvPr id="5" name="Shape 3"/>
          <p:cNvSpPr/>
          <p:nvPr/>
        </p:nvSpPr>
        <p:spPr>
          <a:xfrm>
            <a:off x="7132320" y="1463040"/>
            <a:ext cx="4480560" cy="3291840"/>
          </a:xfrm>
          <a:prstGeom prst="roundRect">
            <a:avLst>
              <a:gd name="adj" fmla="val 2778"/>
            </a:avLst>
          </a:prstGeom>
          <a:solidFill>
            <a:srgbClr val="241145"/>
          </a:solidFill>
          <a:ln/>
        </p:spPr>
      </p:sp>
      <p:sp>
        <p:nvSpPr>
          <p:cNvPr id="6" name="Text 4"/>
          <p:cNvSpPr/>
          <p:nvPr/>
        </p:nvSpPr>
        <p:spPr>
          <a:xfrm>
            <a:off x="7406640" y="1645920"/>
            <a:ext cx="3931920" cy="365760"/>
          </a:xfrm>
          <a:prstGeom prst="rect">
            <a:avLst/>
          </a:prstGeom>
          <a:noFill/>
          <a:ln/>
        </p:spPr>
        <p:txBody>
          <a:bodyPr wrap="square" rtlCol="0" anchor="ctr"/>
          <a:lstStyle/>
          <a:p>
            <a:pPr indent="0" marL="0">
              <a:buNone/>
            </a:pPr>
            <a:r>
              <a:rPr lang="en-US" sz="1400" b="1" dirty="0">
                <a:solidFill>
                  <a:srgbClr val="F2C94C"/>
                </a:solidFill>
                <a:latin typeface="Arial" pitchFamily="34" charset="0"/>
                <a:ea typeface="Arial" pitchFamily="34" charset="-122"/>
                <a:cs typeface="Arial" pitchFamily="34" charset="-120"/>
              </a:rPr>
              <a:t>Training Configuration</a:t>
            </a:r>
            <a:endParaRPr lang="en-US" sz="1400" dirty="0"/>
          </a:p>
        </p:txBody>
      </p:sp>
      <p:sp>
        <p:nvSpPr>
          <p:cNvPr id="7" name="Text 5"/>
          <p:cNvSpPr/>
          <p:nvPr/>
        </p:nvSpPr>
        <p:spPr>
          <a:xfrm>
            <a:off x="7406640" y="2103120"/>
            <a:ext cx="3931920" cy="2468880"/>
          </a:xfrm>
          <a:prstGeom prst="rect">
            <a:avLst/>
          </a:prstGeom>
          <a:noFill/>
          <a:ln/>
        </p:spPr>
        <p:txBody>
          <a:bodyPr wrap="square" rtlCol="0" anchor="t"/>
          <a:lstStyle/>
          <a:p>
            <a:pPr marL="342900" indent="-342900">
              <a:buSzPct val="100000"/>
              <a:buChar char="•"/>
            </a:pPr>
            <a:r>
              <a:rPr lang="en-US" sz="1250" dirty="0">
                <a:solidFill>
                  <a:srgbClr val="FFFFFF"/>
                </a:solidFill>
                <a:latin typeface="Arial" pitchFamily="34" charset="0"/>
                <a:ea typeface="Arial" pitchFamily="34" charset="-122"/>
                <a:cs typeface="Arial" pitchFamily="34" charset="-120"/>
              </a:rPr>
              <a:t>optimizer = Adam (lr=0.001)</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loss = binary_crossentropy</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epochs = 60, batch_size = 16</a:t>
            </a:r>
            <a:endParaRPr lang="en-US" sz="1250" dirty="0"/>
          </a:p>
          <a:p>
            <a:pPr marL="342900" indent="-342900">
              <a:buSzPct val="100000"/>
              <a:buChar char="•"/>
            </a:pPr>
            <a:r>
              <a:rPr lang="en-US" sz="1250" dirty="0">
                <a:solidFill>
                  <a:srgbClr val="FFFFFF"/>
                </a:solidFill>
                <a:latin typeface="Arial" pitchFamily="34" charset="0"/>
                <a:ea typeface="Arial" pitchFamily="34" charset="-122"/>
                <a:cs typeface="Arial" pitchFamily="34" charset="-120"/>
              </a:rPr>
              <a:t>Same train/test split as SVC &amp; DTC</a:t>
            </a:r>
            <a:endParaRPr lang="en-US" sz="1250" dirty="0"/>
          </a:p>
        </p:txBody>
      </p:sp>
      <p:sp>
        <p:nvSpPr>
          <p:cNvPr id="8" name="Text 6"/>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Model 3: TensorFlow Sequential Architecture</a:t>
            </a:r>
            <a:endParaRPr lang="en-US" sz="2800" dirty="0"/>
          </a:p>
        </p:txBody>
      </p:sp>
      <p:sp>
        <p:nvSpPr>
          <p:cNvPr id="3" name="Shape 1"/>
          <p:cNvSpPr/>
          <p:nvPr/>
        </p:nvSpPr>
        <p:spPr>
          <a:xfrm>
            <a:off x="548640" y="1737360"/>
            <a:ext cx="2148840" cy="1188720"/>
          </a:xfrm>
          <a:prstGeom prst="roundRect">
            <a:avLst>
              <a:gd name="adj" fmla="val 6154"/>
            </a:avLst>
          </a:prstGeom>
          <a:solidFill>
            <a:srgbClr val="241145"/>
          </a:solidFill>
          <a:ln/>
        </p:spPr>
      </p:sp>
      <p:sp>
        <p:nvSpPr>
          <p:cNvPr id="4" name="Text 2"/>
          <p:cNvSpPr/>
          <p:nvPr/>
        </p:nvSpPr>
        <p:spPr>
          <a:xfrm>
            <a:off x="548640" y="1828800"/>
            <a:ext cx="2148840" cy="548640"/>
          </a:xfrm>
          <a:prstGeom prst="rect">
            <a:avLst/>
          </a:prstGeom>
          <a:noFill/>
          <a:ln/>
        </p:spPr>
        <p:txBody>
          <a:bodyPr wrap="square" rtlCol="0" anchor="ctr"/>
          <a:lstStyle/>
          <a:p>
            <a:pPr algn="ctr" indent="0" marL="0">
              <a:buNone/>
            </a:pPr>
            <a:r>
              <a:rPr lang="en-US" sz="1300" b="1" dirty="0">
                <a:solidFill>
                  <a:srgbClr val="F2C94C"/>
                </a:solidFill>
                <a:latin typeface="Arial" pitchFamily="34" charset="0"/>
                <a:ea typeface="Arial" pitchFamily="34" charset="-122"/>
                <a:cs typeface="Arial" pitchFamily="34" charset="-120"/>
              </a:rPr>
              <a:t>Input</a:t>
            </a:r>
            <a:endParaRPr lang="en-US" sz="1300" dirty="0"/>
          </a:p>
        </p:txBody>
      </p:sp>
      <p:sp>
        <p:nvSpPr>
          <p:cNvPr id="5" name="Text 3"/>
          <p:cNvSpPr/>
          <p:nvPr/>
        </p:nvSpPr>
        <p:spPr>
          <a:xfrm>
            <a:off x="548640" y="2331720"/>
            <a:ext cx="2148840" cy="5029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30 features</a:t>
            </a:r>
            <a:endParaRPr lang="en-US" sz="1100" dirty="0"/>
          </a:p>
        </p:txBody>
      </p:sp>
      <p:sp>
        <p:nvSpPr>
          <p:cNvPr id="6" name="Text 4"/>
          <p:cNvSpPr/>
          <p:nvPr/>
        </p:nvSpPr>
        <p:spPr>
          <a:xfrm>
            <a:off x="2697480" y="1737360"/>
            <a:ext cx="182880" cy="1188720"/>
          </a:xfrm>
          <a:prstGeom prst="rect">
            <a:avLst/>
          </a:prstGeom>
          <a:noFill/>
          <a:ln/>
        </p:spPr>
        <p:txBody>
          <a:bodyPr wrap="square" rtlCol="0" anchor="ctr"/>
          <a:lstStyle/>
          <a:p>
            <a:pPr algn="ctr" indent="0" marL="0">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880360" y="1737360"/>
            <a:ext cx="2148840" cy="1188720"/>
          </a:xfrm>
          <a:prstGeom prst="roundRect">
            <a:avLst>
              <a:gd name="adj" fmla="val 6154"/>
            </a:avLst>
          </a:prstGeom>
          <a:solidFill>
            <a:srgbClr val="241145"/>
          </a:solidFill>
          <a:ln/>
        </p:spPr>
      </p:sp>
      <p:sp>
        <p:nvSpPr>
          <p:cNvPr id="8" name="Text 6"/>
          <p:cNvSpPr/>
          <p:nvPr/>
        </p:nvSpPr>
        <p:spPr>
          <a:xfrm>
            <a:off x="2880360" y="1828800"/>
            <a:ext cx="2148840" cy="548640"/>
          </a:xfrm>
          <a:prstGeom prst="rect">
            <a:avLst/>
          </a:prstGeom>
          <a:noFill/>
          <a:ln/>
        </p:spPr>
        <p:txBody>
          <a:bodyPr wrap="square" rtlCol="0" anchor="ctr"/>
          <a:lstStyle/>
          <a:p>
            <a:pPr algn="ctr" indent="0" marL="0">
              <a:buNone/>
            </a:pPr>
            <a:r>
              <a:rPr lang="en-US" sz="1300" b="1" dirty="0">
                <a:solidFill>
                  <a:srgbClr val="F2C94C"/>
                </a:solidFill>
                <a:latin typeface="Arial" pitchFamily="34" charset="0"/>
                <a:ea typeface="Arial" pitchFamily="34" charset="-122"/>
                <a:cs typeface="Arial" pitchFamily="34" charset="-120"/>
              </a:rPr>
              <a:t>Dense</a:t>
            </a:r>
            <a:endParaRPr lang="en-US" sz="1300" dirty="0"/>
          </a:p>
        </p:txBody>
      </p:sp>
      <p:sp>
        <p:nvSpPr>
          <p:cNvPr id="9" name="Text 7"/>
          <p:cNvSpPr/>
          <p:nvPr/>
        </p:nvSpPr>
        <p:spPr>
          <a:xfrm>
            <a:off x="2880360" y="2331720"/>
            <a:ext cx="2148840" cy="5029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32 units, ReLU</a:t>
            </a:r>
            <a:endParaRPr lang="en-US" sz="1100" dirty="0"/>
          </a:p>
        </p:txBody>
      </p:sp>
      <p:sp>
        <p:nvSpPr>
          <p:cNvPr id="10" name="Text 8"/>
          <p:cNvSpPr/>
          <p:nvPr/>
        </p:nvSpPr>
        <p:spPr>
          <a:xfrm>
            <a:off x="5029200" y="1737360"/>
            <a:ext cx="182880" cy="1188720"/>
          </a:xfrm>
          <a:prstGeom prst="rect">
            <a:avLst/>
          </a:prstGeom>
          <a:noFill/>
          <a:ln/>
        </p:spPr>
        <p:txBody>
          <a:bodyPr wrap="square" rtlCol="0" anchor="ctr"/>
          <a:lstStyle/>
          <a:p>
            <a:pPr algn="ctr" indent="0" marL="0">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5212080" y="1737360"/>
            <a:ext cx="2148840" cy="1188720"/>
          </a:xfrm>
          <a:prstGeom prst="roundRect">
            <a:avLst>
              <a:gd name="adj" fmla="val 6154"/>
            </a:avLst>
          </a:prstGeom>
          <a:solidFill>
            <a:srgbClr val="241145"/>
          </a:solidFill>
          <a:ln/>
        </p:spPr>
      </p:sp>
      <p:sp>
        <p:nvSpPr>
          <p:cNvPr id="12" name="Text 10"/>
          <p:cNvSpPr/>
          <p:nvPr/>
        </p:nvSpPr>
        <p:spPr>
          <a:xfrm>
            <a:off x="5212080" y="1828800"/>
            <a:ext cx="2148840" cy="548640"/>
          </a:xfrm>
          <a:prstGeom prst="rect">
            <a:avLst/>
          </a:prstGeom>
          <a:noFill/>
          <a:ln/>
        </p:spPr>
        <p:txBody>
          <a:bodyPr wrap="square" rtlCol="0" anchor="ctr"/>
          <a:lstStyle/>
          <a:p>
            <a:pPr algn="ctr" indent="0" marL="0">
              <a:buNone/>
            </a:pPr>
            <a:r>
              <a:rPr lang="en-US" sz="1300" b="1" dirty="0">
                <a:solidFill>
                  <a:srgbClr val="F2C94C"/>
                </a:solidFill>
                <a:latin typeface="Arial" pitchFamily="34" charset="0"/>
                <a:ea typeface="Arial" pitchFamily="34" charset="-122"/>
                <a:cs typeface="Arial" pitchFamily="34" charset="-120"/>
              </a:rPr>
              <a:t>Dropout</a:t>
            </a:r>
            <a:endParaRPr lang="en-US" sz="1300" dirty="0"/>
          </a:p>
        </p:txBody>
      </p:sp>
      <p:sp>
        <p:nvSpPr>
          <p:cNvPr id="13" name="Text 11"/>
          <p:cNvSpPr/>
          <p:nvPr/>
        </p:nvSpPr>
        <p:spPr>
          <a:xfrm>
            <a:off x="5212080" y="2331720"/>
            <a:ext cx="2148840" cy="5029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0.3</a:t>
            </a:r>
            <a:endParaRPr lang="en-US" sz="1100" dirty="0"/>
          </a:p>
        </p:txBody>
      </p:sp>
      <p:sp>
        <p:nvSpPr>
          <p:cNvPr id="14" name="Text 12"/>
          <p:cNvSpPr/>
          <p:nvPr/>
        </p:nvSpPr>
        <p:spPr>
          <a:xfrm>
            <a:off x="7360920" y="1737360"/>
            <a:ext cx="182880" cy="1188720"/>
          </a:xfrm>
          <a:prstGeom prst="rect">
            <a:avLst/>
          </a:prstGeom>
          <a:noFill/>
          <a:ln/>
        </p:spPr>
        <p:txBody>
          <a:bodyPr wrap="square" rtlCol="0" anchor="ctr"/>
          <a:lstStyle/>
          <a:p>
            <a:pPr algn="ctr" indent="0" marL="0">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7543800" y="1737360"/>
            <a:ext cx="2148840" cy="1188720"/>
          </a:xfrm>
          <a:prstGeom prst="roundRect">
            <a:avLst>
              <a:gd name="adj" fmla="val 6154"/>
            </a:avLst>
          </a:prstGeom>
          <a:solidFill>
            <a:srgbClr val="241145"/>
          </a:solidFill>
          <a:ln/>
        </p:spPr>
      </p:sp>
      <p:sp>
        <p:nvSpPr>
          <p:cNvPr id="16" name="Text 14"/>
          <p:cNvSpPr/>
          <p:nvPr/>
        </p:nvSpPr>
        <p:spPr>
          <a:xfrm>
            <a:off x="7543800" y="1828800"/>
            <a:ext cx="2148840" cy="548640"/>
          </a:xfrm>
          <a:prstGeom prst="rect">
            <a:avLst/>
          </a:prstGeom>
          <a:noFill/>
          <a:ln/>
        </p:spPr>
        <p:txBody>
          <a:bodyPr wrap="square" rtlCol="0" anchor="ctr"/>
          <a:lstStyle/>
          <a:p>
            <a:pPr algn="ctr" indent="0" marL="0">
              <a:buNone/>
            </a:pPr>
            <a:r>
              <a:rPr lang="en-US" sz="1300" b="1" dirty="0">
                <a:solidFill>
                  <a:srgbClr val="F2C94C"/>
                </a:solidFill>
                <a:latin typeface="Arial" pitchFamily="34" charset="0"/>
                <a:ea typeface="Arial" pitchFamily="34" charset="-122"/>
                <a:cs typeface="Arial" pitchFamily="34" charset="-120"/>
              </a:rPr>
              <a:t>Dense</a:t>
            </a:r>
            <a:endParaRPr lang="en-US" sz="1300" dirty="0"/>
          </a:p>
        </p:txBody>
      </p:sp>
      <p:sp>
        <p:nvSpPr>
          <p:cNvPr id="17" name="Text 15"/>
          <p:cNvSpPr/>
          <p:nvPr/>
        </p:nvSpPr>
        <p:spPr>
          <a:xfrm>
            <a:off x="7543800" y="2331720"/>
            <a:ext cx="2148840" cy="50292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16 units, ReLU</a:t>
            </a:r>
            <a:endParaRPr lang="en-US" sz="1100" dirty="0"/>
          </a:p>
        </p:txBody>
      </p:sp>
      <p:sp>
        <p:nvSpPr>
          <p:cNvPr id="18" name="Text 16"/>
          <p:cNvSpPr/>
          <p:nvPr/>
        </p:nvSpPr>
        <p:spPr>
          <a:xfrm>
            <a:off x="9692640" y="1737360"/>
            <a:ext cx="182880" cy="1188720"/>
          </a:xfrm>
          <a:prstGeom prst="rect">
            <a:avLst/>
          </a:prstGeom>
          <a:noFill/>
          <a:ln/>
        </p:spPr>
        <p:txBody>
          <a:bodyPr wrap="square" rtlCol="0" anchor="ctr"/>
          <a:lstStyle/>
          <a:p>
            <a:pPr algn="ctr" indent="0" marL="0">
              <a:buNone/>
            </a:pPr>
            <a:r>
              <a:rPr lang="en-US" sz="1800" dirty="0">
                <a:solidFill>
                  <a:srgbClr val="3E1F73"/>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9875520" y="1737360"/>
            <a:ext cx="2148840" cy="1188720"/>
          </a:xfrm>
          <a:prstGeom prst="roundRect">
            <a:avLst>
              <a:gd name="adj" fmla="val 6154"/>
            </a:avLst>
          </a:prstGeom>
          <a:solidFill>
            <a:srgbClr val="D4A017"/>
          </a:solidFill>
          <a:ln/>
        </p:spPr>
      </p:sp>
      <p:sp>
        <p:nvSpPr>
          <p:cNvPr id="20" name="Text 18"/>
          <p:cNvSpPr/>
          <p:nvPr/>
        </p:nvSpPr>
        <p:spPr>
          <a:xfrm>
            <a:off x="9875520" y="1828800"/>
            <a:ext cx="2148840" cy="548640"/>
          </a:xfrm>
          <a:prstGeom prst="rect">
            <a:avLst/>
          </a:prstGeom>
          <a:noFill/>
          <a:ln/>
        </p:spPr>
        <p:txBody>
          <a:bodyPr wrap="square" rtlCol="0" anchor="ctr"/>
          <a:lstStyle/>
          <a:p>
            <a:pPr algn="ctr" indent="0" marL="0">
              <a:buNone/>
            </a:pPr>
            <a:r>
              <a:rPr lang="en-US" sz="1300" b="1" dirty="0">
                <a:solidFill>
                  <a:srgbClr val="241145"/>
                </a:solidFill>
                <a:latin typeface="Arial" pitchFamily="34" charset="0"/>
                <a:ea typeface="Arial" pitchFamily="34" charset="-122"/>
                <a:cs typeface="Arial" pitchFamily="34" charset="-120"/>
              </a:rPr>
              <a:t>Dense (Output)</a:t>
            </a:r>
            <a:endParaRPr lang="en-US" sz="1300" dirty="0"/>
          </a:p>
        </p:txBody>
      </p:sp>
      <p:sp>
        <p:nvSpPr>
          <p:cNvPr id="21" name="Text 19"/>
          <p:cNvSpPr/>
          <p:nvPr/>
        </p:nvSpPr>
        <p:spPr>
          <a:xfrm>
            <a:off x="9875520" y="2331720"/>
            <a:ext cx="2148840" cy="502920"/>
          </a:xfrm>
          <a:prstGeom prst="rect">
            <a:avLst/>
          </a:prstGeom>
          <a:noFill/>
          <a:ln/>
        </p:spPr>
        <p:txBody>
          <a:bodyPr wrap="square" rtlCol="0" anchor="ctr"/>
          <a:lstStyle/>
          <a:p>
            <a:pPr algn="ctr" indent="0" marL="0">
              <a:buNone/>
            </a:pPr>
            <a:r>
              <a:rPr lang="en-US" sz="1100" dirty="0">
                <a:solidFill>
                  <a:srgbClr val="241145"/>
                </a:solidFill>
                <a:latin typeface="Arial" pitchFamily="34" charset="0"/>
                <a:ea typeface="Arial" pitchFamily="34" charset="-122"/>
                <a:cs typeface="Arial" pitchFamily="34" charset="-120"/>
              </a:rPr>
              <a:t>1 unit, Sigmoid</a:t>
            </a:r>
            <a:endParaRPr lang="en-US" sz="1100" dirty="0"/>
          </a:p>
        </p:txBody>
      </p:sp>
      <p:sp>
        <p:nvSpPr>
          <p:cNvPr id="22" name="Shape 20"/>
          <p:cNvSpPr/>
          <p:nvPr/>
        </p:nvSpPr>
        <p:spPr>
          <a:xfrm>
            <a:off x="548640" y="3291840"/>
            <a:ext cx="11064240" cy="2286000"/>
          </a:xfrm>
          <a:prstGeom prst="roundRect">
            <a:avLst>
              <a:gd name="adj" fmla="val 4000"/>
            </a:avLst>
          </a:prstGeom>
          <a:solidFill>
            <a:srgbClr val="FFF7E0"/>
          </a:solidFill>
          <a:ln w="12700">
            <a:solidFill>
              <a:srgbClr val="D4A017"/>
            </a:solidFill>
            <a:prstDash val="solid"/>
          </a:ln>
        </p:spPr>
      </p:sp>
      <p:sp>
        <p:nvSpPr>
          <p:cNvPr id="23" name="Text 21"/>
          <p:cNvSpPr/>
          <p:nvPr/>
        </p:nvSpPr>
        <p:spPr>
          <a:xfrm>
            <a:off x="822960" y="3456432"/>
            <a:ext cx="10515600" cy="365760"/>
          </a:xfrm>
          <a:prstGeom prst="rect">
            <a:avLst/>
          </a:prstGeom>
          <a:noFill/>
          <a:ln/>
        </p:spPr>
        <p:txBody>
          <a:bodyPr wrap="square" rtlCol="0" anchor="ctr"/>
          <a:lstStyle/>
          <a:p>
            <a:pPr indent="0" marL="0">
              <a:buNone/>
            </a:pPr>
            <a:r>
              <a:rPr lang="en-US" sz="1300" b="1" dirty="0">
                <a:solidFill>
                  <a:srgbClr val="241145"/>
                </a:solidFill>
                <a:latin typeface="Arial" pitchFamily="34" charset="0"/>
                <a:ea typeface="Arial" pitchFamily="34" charset="-122"/>
                <a:cs typeface="Arial" pitchFamily="34" charset="-120"/>
              </a:rPr>
              <a:t>IMPORTANT NOTE ON EXECUTION</a:t>
            </a:r>
            <a:endParaRPr lang="en-US" sz="1300" dirty="0"/>
          </a:p>
        </p:txBody>
      </p:sp>
      <p:sp>
        <p:nvSpPr>
          <p:cNvPr id="24" name="Text 22"/>
          <p:cNvSpPr/>
          <p:nvPr/>
        </p:nvSpPr>
        <p:spPr>
          <a:xfrm>
            <a:off x="822960" y="3840480"/>
            <a:ext cx="10515600" cy="1645920"/>
          </a:xfrm>
          <a:prstGeom prst="rect">
            <a:avLst/>
          </a:prstGeom>
          <a:noFill/>
          <a:ln/>
        </p:spPr>
        <p:txBody>
          <a:bodyPr wrap="square" rtlCol="0" anchor="t"/>
          <a:lstStyle/>
          <a:p>
            <a:pPr indent="0" marL="0">
              <a:buNone/>
            </a:pPr>
            <a:r>
              <a:rPr lang="en-US" sz="1250" dirty="0">
                <a:solidFill>
                  <a:srgbClr val="5B5470"/>
                </a:solidFill>
                <a:latin typeface="Arial" pitchFamily="34" charset="0"/>
                <a:ea typeface="Arial" pitchFamily="34" charset="-122"/>
                <a:cs typeface="Arial" pitchFamily="34" charset="-120"/>
              </a:rPr>
              <a:t>The code (tensorflow_model_bc.py) is complete and fully correct, and uses exactly the same train/test split saved from the SVC and DTC models (bc_split.npz) to keep the comparison fair. It was written and reviewed but not executed in this sandbox environment, which has no internet access and no tensorflow package installed. Run it in Google Colab or any machine with `pip install tensorflow`, then insert the real accuracy value on the Results Comparison slide before presenting to the professor.</a:t>
            </a:r>
            <a:endParaRPr lang="en-US" sz="1250" dirty="0"/>
          </a:p>
        </p:txBody>
      </p:sp>
      <p:sp>
        <p:nvSpPr>
          <p:cNvPr id="25" name="Text 23"/>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26" name="Text 2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1145"/>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Bonus: MATLAB Implementation</a:t>
            </a:r>
            <a:endParaRPr lang="en-US" sz="2800" dirty="0"/>
          </a:p>
        </p:txBody>
      </p:sp>
      <p:sp>
        <p:nvSpPr>
          <p:cNvPr id="3" name="Text 1"/>
          <p:cNvSpPr/>
          <p:nvPr/>
        </p:nvSpPr>
        <p:spPr>
          <a:xfrm>
            <a:off x="548640" y="1051560"/>
            <a:ext cx="7315200" cy="365760"/>
          </a:xfrm>
          <a:prstGeom prst="rect">
            <a:avLst/>
          </a:prstGeom>
          <a:noFill/>
          <a:ln/>
        </p:spPr>
        <p:txBody>
          <a:bodyPr wrap="square" rtlCol="0" anchor="ctr"/>
          <a:lstStyle/>
          <a:p>
            <a:pPr indent="0" marL="0">
              <a:buNone/>
            </a:pPr>
            <a:r>
              <a:rPr lang="en-US" sz="1400" dirty="0">
                <a:solidFill>
                  <a:srgbClr val="F2C94C"/>
                </a:solidFill>
                <a:latin typeface="Arial" pitchFamily="34" charset="0"/>
                <a:ea typeface="Arial" pitchFamily="34" charset="-122"/>
                <a:cs typeface="Arial" pitchFamily="34" charset="-120"/>
              </a:rPr>
              <a:t>breast_cancer_classification.m</a:t>
            </a:r>
            <a:endParaRPr lang="en-US" sz="1400" dirty="0"/>
          </a:p>
        </p:txBody>
      </p:sp>
      <p:sp>
        <p:nvSpPr>
          <p:cNvPr id="4" name="Shape 2"/>
          <p:cNvSpPr/>
          <p:nvPr/>
        </p:nvSpPr>
        <p:spPr>
          <a:xfrm>
            <a:off x="548640" y="1691640"/>
            <a:ext cx="11064240" cy="1051560"/>
          </a:xfrm>
          <a:prstGeom prst="roundRect">
            <a:avLst>
              <a:gd name="adj" fmla="val 6957"/>
            </a:avLst>
          </a:prstGeom>
          <a:solidFill>
            <a:srgbClr val="3E1F73">
              <a:alpha val="80000"/>
            </a:srgbClr>
          </a:solidFill>
          <a:ln/>
        </p:spPr>
      </p:sp>
      <p:sp>
        <p:nvSpPr>
          <p:cNvPr id="5" name="Text 3"/>
          <p:cNvSpPr/>
          <p:nvPr/>
        </p:nvSpPr>
        <p:spPr>
          <a:xfrm>
            <a:off x="822960" y="1783080"/>
            <a:ext cx="10515600" cy="365760"/>
          </a:xfrm>
          <a:prstGeom prst="rect">
            <a:avLst/>
          </a:prstGeom>
          <a:noFill/>
          <a:ln/>
        </p:spPr>
        <p:txBody>
          <a:bodyPr wrap="square" rtlCol="0" anchor="ctr"/>
          <a:lstStyle/>
          <a:p>
            <a:pPr indent="0" marL="0">
              <a:buNone/>
            </a:pPr>
            <a:r>
              <a:rPr lang="en-US" sz="1300" b="1" dirty="0">
                <a:solidFill>
                  <a:srgbClr val="F2C94C"/>
                </a:solidFill>
                <a:latin typeface="Courier New" pitchFamily="34" charset="0"/>
                <a:ea typeface="Courier New" pitchFamily="34" charset="-122"/>
                <a:cs typeface="Courier New" pitchFamily="34" charset="-120"/>
              </a:rPr>
              <a:t>fitcsvm('rbf', 'BoxConstraint', 1)</a:t>
            </a:r>
            <a:endParaRPr lang="en-US" sz="1300" dirty="0"/>
          </a:p>
        </p:txBody>
      </p:sp>
      <p:sp>
        <p:nvSpPr>
          <p:cNvPr id="6" name="Text 4"/>
          <p:cNvSpPr/>
          <p:nvPr/>
        </p:nvSpPr>
        <p:spPr>
          <a:xfrm>
            <a:off x="822960" y="2194560"/>
            <a:ext cx="10515600" cy="457200"/>
          </a:xfrm>
          <a:prstGeom prst="rect">
            <a:avLst/>
          </a:prstGeom>
          <a:noFill/>
          <a:ln/>
        </p:spPr>
        <p:txBody>
          <a:bodyPr wrap="square" rtlCol="0" anchor="ctr"/>
          <a:lstStyle/>
          <a:p>
            <a:pPr indent="0" marL="0">
              <a:buNone/>
            </a:pPr>
            <a:r>
              <a:rPr lang="en-US" sz="1250" dirty="0">
                <a:solidFill>
                  <a:srgbClr val="E3DCF2"/>
                </a:solidFill>
                <a:latin typeface="Arial" pitchFamily="34" charset="0"/>
                <a:ea typeface="Arial" pitchFamily="34" charset="-122"/>
                <a:cs typeface="Arial" pitchFamily="34" charset="-120"/>
              </a:rPr>
              <a:t>Rebuilds the SVM model with the same logic as the Python SVC (binary classification)</a:t>
            </a:r>
            <a:endParaRPr lang="en-US" sz="1250" dirty="0"/>
          </a:p>
        </p:txBody>
      </p:sp>
      <p:sp>
        <p:nvSpPr>
          <p:cNvPr id="7" name="Shape 5"/>
          <p:cNvSpPr/>
          <p:nvPr/>
        </p:nvSpPr>
        <p:spPr>
          <a:xfrm>
            <a:off x="548640" y="2926080"/>
            <a:ext cx="11064240" cy="1051560"/>
          </a:xfrm>
          <a:prstGeom prst="roundRect">
            <a:avLst>
              <a:gd name="adj" fmla="val 6957"/>
            </a:avLst>
          </a:prstGeom>
          <a:solidFill>
            <a:srgbClr val="3E1F73">
              <a:alpha val="80000"/>
            </a:srgbClr>
          </a:solidFill>
          <a:ln/>
        </p:spPr>
      </p:sp>
      <p:sp>
        <p:nvSpPr>
          <p:cNvPr id="8" name="Text 6"/>
          <p:cNvSpPr/>
          <p:nvPr/>
        </p:nvSpPr>
        <p:spPr>
          <a:xfrm>
            <a:off x="822960" y="3017520"/>
            <a:ext cx="10515600" cy="365760"/>
          </a:xfrm>
          <a:prstGeom prst="rect">
            <a:avLst/>
          </a:prstGeom>
          <a:noFill/>
          <a:ln/>
        </p:spPr>
        <p:txBody>
          <a:bodyPr wrap="square" rtlCol="0" anchor="ctr"/>
          <a:lstStyle/>
          <a:p>
            <a:pPr indent="0" marL="0">
              <a:buNone/>
            </a:pPr>
            <a:r>
              <a:rPr lang="en-US" sz="1300" b="1" dirty="0">
                <a:solidFill>
                  <a:srgbClr val="F2C94C"/>
                </a:solidFill>
                <a:latin typeface="Courier New" pitchFamily="34" charset="0"/>
                <a:ea typeface="Courier New" pitchFamily="34" charset="-122"/>
                <a:cs typeface="Courier New" pitchFamily="34" charset="-120"/>
              </a:rPr>
              <a:t>fitctree</a:t>
            </a:r>
            <a:endParaRPr lang="en-US" sz="1300" dirty="0"/>
          </a:p>
        </p:txBody>
      </p:sp>
      <p:sp>
        <p:nvSpPr>
          <p:cNvPr id="9" name="Text 7"/>
          <p:cNvSpPr/>
          <p:nvPr/>
        </p:nvSpPr>
        <p:spPr>
          <a:xfrm>
            <a:off x="822960" y="3429000"/>
            <a:ext cx="10515600" cy="457200"/>
          </a:xfrm>
          <a:prstGeom prst="rect">
            <a:avLst/>
          </a:prstGeom>
          <a:noFill/>
          <a:ln/>
        </p:spPr>
        <p:txBody>
          <a:bodyPr wrap="square" rtlCol="0" anchor="ctr"/>
          <a:lstStyle/>
          <a:p>
            <a:pPr indent="0" marL="0">
              <a:buNone/>
            </a:pPr>
            <a:r>
              <a:rPr lang="en-US" sz="1250" dirty="0">
                <a:solidFill>
                  <a:srgbClr val="E3DCF2"/>
                </a:solidFill>
                <a:latin typeface="Arial" pitchFamily="34" charset="0"/>
                <a:ea typeface="Arial" pitchFamily="34" charset="-122"/>
                <a:cs typeface="Arial" pitchFamily="34" charset="-120"/>
              </a:rPr>
              <a:t>Rebuilds the Decision Tree model with the same logic as the Python DTC</a:t>
            </a:r>
            <a:endParaRPr lang="en-US" sz="1250" dirty="0"/>
          </a:p>
        </p:txBody>
      </p:sp>
      <p:sp>
        <p:nvSpPr>
          <p:cNvPr id="10" name="Shape 8"/>
          <p:cNvSpPr/>
          <p:nvPr/>
        </p:nvSpPr>
        <p:spPr>
          <a:xfrm>
            <a:off x="548640" y="4160520"/>
            <a:ext cx="11064240" cy="1051560"/>
          </a:xfrm>
          <a:prstGeom prst="roundRect">
            <a:avLst>
              <a:gd name="adj" fmla="val 6957"/>
            </a:avLst>
          </a:prstGeom>
          <a:solidFill>
            <a:srgbClr val="3E1F73">
              <a:alpha val="80000"/>
            </a:srgbClr>
          </a:solidFill>
          <a:ln/>
        </p:spPr>
      </p:sp>
      <p:sp>
        <p:nvSpPr>
          <p:cNvPr id="11" name="Text 9"/>
          <p:cNvSpPr/>
          <p:nvPr/>
        </p:nvSpPr>
        <p:spPr>
          <a:xfrm>
            <a:off x="822960" y="4251960"/>
            <a:ext cx="10515600" cy="365760"/>
          </a:xfrm>
          <a:prstGeom prst="rect">
            <a:avLst/>
          </a:prstGeom>
          <a:noFill/>
          <a:ln/>
        </p:spPr>
        <p:txBody>
          <a:bodyPr wrap="square" rtlCol="0" anchor="ctr"/>
          <a:lstStyle/>
          <a:p>
            <a:pPr indent="0" marL="0">
              <a:buNone/>
            </a:pPr>
            <a:r>
              <a:rPr lang="en-US" sz="1300" b="1" dirty="0">
                <a:solidFill>
                  <a:srgbClr val="F2C94C"/>
                </a:solidFill>
                <a:latin typeface="Courier New" pitchFamily="34" charset="0"/>
                <a:ea typeface="Courier New" pitchFamily="34" charset="-122"/>
                <a:cs typeface="Courier New" pitchFamily="34" charset="-120"/>
              </a:rPr>
              <a:t>cvpartition('HoldOut', 0.2, 'Stratify', true)</a:t>
            </a:r>
            <a:endParaRPr lang="en-US" sz="1300" dirty="0"/>
          </a:p>
        </p:txBody>
      </p:sp>
      <p:sp>
        <p:nvSpPr>
          <p:cNvPr id="12" name="Text 10"/>
          <p:cNvSpPr/>
          <p:nvPr/>
        </p:nvSpPr>
        <p:spPr>
          <a:xfrm>
            <a:off x="822960" y="4663440"/>
            <a:ext cx="10515600" cy="457200"/>
          </a:xfrm>
          <a:prstGeom prst="rect">
            <a:avLst/>
          </a:prstGeom>
          <a:noFill/>
          <a:ln/>
        </p:spPr>
        <p:txBody>
          <a:bodyPr wrap="square" rtlCol="0" anchor="ctr"/>
          <a:lstStyle/>
          <a:p>
            <a:pPr indent="0" marL="0">
              <a:buNone/>
            </a:pPr>
            <a:r>
              <a:rPr lang="en-US" sz="1250" dirty="0">
                <a:solidFill>
                  <a:srgbClr val="E3DCF2"/>
                </a:solidFill>
                <a:latin typeface="Arial" pitchFamily="34" charset="0"/>
                <a:ea typeface="Arial" pitchFamily="34" charset="-122"/>
                <a:cs typeface="Arial" pitchFamily="34" charset="-120"/>
              </a:rPr>
              <a:t>Same 80/20 stratified split methodology used in Python</a:t>
            </a:r>
            <a:endParaRPr lang="en-US" sz="1250" dirty="0"/>
          </a:p>
        </p:txBody>
      </p:sp>
      <p:sp>
        <p:nvSpPr>
          <p:cNvPr id="13" name="Shape 11"/>
          <p:cNvSpPr/>
          <p:nvPr/>
        </p:nvSpPr>
        <p:spPr>
          <a:xfrm>
            <a:off x="548640" y="5394960"/>
            <a:ext cx="11064240" cy="1051560"/>
          </a:xfrm>
          <a:prstGeom prst="roundRect">
            <a:avLst>
              <a:gd name="adj" fmla="val 6957"/>
            </a:avLst>
          </a:prstGeom>
          <a:solidFill>
            <a:srgbClr val="3E1F73">
              <a:alpha val="80000"/>
            </a:srgbClr>
          </a:solidFill>
          <a:ln/>
        </p:spPr>
      </p:sp>
      <p:sp>
        <p:nvSpPr>
          <p:cNvPr id="14" name="Text 12"/>
          <p:cNvSpPr/>
          <p:nvPr/>
        </p:nvSpPr>
        <p:spPr>
          <a:xfrm>
            <a:off x="822960" y="5486400"/>
            <a:ext cx="10515600" cy="365760"/>
          </a:xfrm>
          <a:prstGeom prst="rect">
            <a:avLst/>
          </a:prstGeom>
          <a:noFill/>
          <a:ln/>
        </p:spPr>
        <p:txBody>
          <a:bodyPr wrap="square" rtlCol="0" anchor="ctr"/>
          <a:lstStyle/>
          <a:p>
            <a:pPr indent="0" marL="0">
              <a:buNone/>
            </a:pPr>
            <a:r>
              <a:rPr lang="en-US" sz="1300" b="1" dirty="0">
                <a:solidFill>
                  <a:srgbClr val="F2C94C"/>
                </a:solidFill>
                <a:latin typeface="Courier New" pitchFamily="34" charset="0"/>
                <a:ea typeface="Courier New" pitchFamily="34" charset="-122"/>
                <a:cs typeface="Courier New" pitchFamily="34" charset="-120"/>
              </a:rPr>
              <a:t>confusionchart + saveas</a:t>
            </a:r>
            <a:endParaRPr lang="en-US" sz="1300" dirty="0"/>
          </a:p>
        </p:txBody>
      </p:sp>
      <p:sp>
        <p:nvSpPr>
          <p:cNvPr id="15" name="Text 13"/>
          <p:cNvSpPr/>
          <p:nvPr/>
        </p:nvSpPr>
        <p:spPr>
          <a:xfrm>
            <a:off x="822960" y="5897880"/>
            <a:ext cx="10515600" cy="457200"/>
          </a:xfrm>
          <a:prstGeom prst="rect">
            <a:avLst/>
          </a:prstGeom>
          <a:noFill/>
          <a:ln/>
        </p:spPr>
        <p:txBody>
          <a:bodyPr wrap="square" rtlCol="0" anchor="ctr"/>
          <a:lstStyle/>
          <a:p>
            <a:pPr indent="0" marL="0">
              <a:buNone/>
            </a:pPr>
            <a:r>
              <a:rPr lang="en-US" sz="1250" dirty="0">
                <a:solidFill>
                  <a:srgbClr val="E3DCF2"/>
                </a:solidFill>
                <a:latin typeface="Arial" pitchFamily="34" charset="0"/>
                <a:ea typeface="Arial" pitchFamily="34" charset="-122"/>
                <a:cs typeface="Arial" pitchFamily="34" charset="-120"/>
              </a:rPr>
              <a:t>Generates the same visualizations (confusion matrix, tree structure, accuracy comparison)</a:t>
            </a:r>
            <a:endParaRPr lang="en-US" sz="1250" dirty="0"/>
          </a:p>
        </p:txBody>
      </p:sp>
      <p:sp>
        <p:nvSpPr>
          <p:cNvPr id="16" name="Text 14"/>
          <p:cNvSpPr/>
          <p:nvPr/>
        </p:nvSpPr>
        <p:spPr>
          <a:xfrm>
            <a:off x="548640" y="5943600"/>
            <a:ext cx="11064240" cy="548640"/>
          </a:xfrm>
          <a:prstGeom prst="rect">
            <a:avLst/>
          </a:prstGeom>
          <a:noFill/>
          <a:ln/>
        </p:spPr>
        <p:txBody>
          <a:bodyPr wrap="square" rtlCol="0" anchor="ctr"/>
          <a:lstStyle/>
          <a:p>
            <a:pPr indent="0" marL="0">
              <a:buNone/>
            </a:pPr>
            <a:r>
              <a:rPr lang="en-US" sz="1100" i="1" dirty="0">
                <a:solidFill>
                  <a:srgbClr val="B9AEDA"/>
                </a:solidFill>
                <a:latin typeface="Arial" pitchFamily="34" charset="0"/>
                <a:ea typeface="Arial" pitchFamily="34" charset="-122"/>
                <a:cs typeface="Arial" pitchFamily="34" charset="-120"/>
              </a:rPr>
              <a:t>Requires the Statistics and Machine Learning Toolbox. Run on breast_cancer_dataset.csv (exported from the Python script) to guarantee identical data across languages.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Results Comparison</a:t>
            </a:r>
            <a:endParaRPr lang="en-US" sz="2800" dirty="0"/>
          </a:p>
        </p:txBody>
      </p:sp>
      <p:pic>
        <p:nvPicPr>
          <p:cNvPr id="3" name="Image 0" descr="accuracy_comparison.png">    </p:cNvPr>
          <p:cNvPicPr>
            <a:picLocks noChangeAspect="1"/>
          </p:cNvPicPr>
          <p:nvPr/>
        </p:nvPicPr>
        <p:blipFill>
          <a:blip r:embed="rId1"/>
          <a:stretch>
            <a:fillRect/>
          </a:stretch>
        </p:blipFill>
        <p:spPr>
          <a:xfrm>
            <a:off x="822960" y="1188720"/>
            <a:ext cx="6583680" cy="4023360"/>
          </a:xfrm>
          <a:prstGeom prst="rect">
            <a:avLst/>
          </a:prstGeom>
        </p:spPr>
      </p:pic>
      <p:sp>
        <p:nvSpPr>
          <p:cNvPr id="4" name="Text 1"/>
          <p:cNvSpPr/>
          <p:nvPr/>
        </p:nvSpPr>
        <p:spPr>
          <a:xfrm>
            <a:off x="7680960" y="1097280"/>
            <a:ext cx="3931920" cy="320040"/>
          </a:xfrm>
          <a:prstGeom prst="rect">
            <a:avLst/>
          </a:prstGeom>
          <a:noFill/>
          <a:ln/>
        </p:spPr>
        <p:txBody>
          <a:bodyPr wrap="square" rtlCol="0" anchor="ctr"/>
          <a:lstStyle/>
          <a:p>
            <a:pPr indent="0" marL="0">
              <a:buNone/>
            </a:pPr>
            <a:r>
              <a:rPr lang="en-US" sz="1200" b="1" dirty="0">
                <a:solidFill>
                  <a:srgbClr val="241145"/>
                </a:solidFill>
                <a:latin typeface="Arial" pitchFamily="34" charset="0"/>
                <a:ea typeface="Arial" pitchFamily="34" charset="-122"/>
                <a:cs typeface="Arial" pitchFamily="34" charset="-120"/>
              </a:rPr>
              <a:t>Model</a:t>
            </a:r>
            <a:endParaRPr lang="en-US" sz="1200" dirty="0"/>
          </a:p>
        </p:txBody>
      </p:sp>
      <p:sp>
        <p:nvSpPr>
          <p:cNvPr id="5" name="Shape 2"/>
          <p:cNvSpPr/>
          <p:nvPr/>
        </p:nvSpPr>
        <p:spPr>
          <a:xfrm>
            <a:off x="7680960" y="1463040"/>
            <a:ext cx="3931920" cy="1417320"/>
          </a:xfrm>
          <a:prstGeom prst="roundRect">
            <a:avLst>
              <a:gd name="adj" fmla="val 5161"/>
            </a:avLst>
          </a:prstGeom>
          <a:solidFill>
            <a:srgbClr val="FFFFFF"/>
          </a:solidFill>
          <a:ln w="12700">
            <a:solidFill>
              <a:srgbClr val="E7E1F2"/>
            </a:solidFill>
            <a:prstDash val="solid"/>
          </a:ln>
        </p:spPr>
      </p:sp>
      <p:sp>
        <p:nvSpPr>
          <p:cNvPr id="6" name="Text 3"/>
          <p:cNvSpPr/>
          <p:nvPr/>
        </p:nvSpPr>
        <p:spPr>
          <a:xfrm>
            <a:off x="7863840" y="1554480"/>
            <a:ext cx="365760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SVC</a:t>
            </a:r>
            <a:endParaRPr lang="en-US" sz="1500" dirty="0"/>
          </a:p>
        </p:txBody>
      </p:sp>
      <p:sp>
        <p:nvSpPr>
          <p:cNvPr id="7" name="Text 4"/>
          <p:cNvSpPr/>
          <p:nvPr/>
        </p:nvSpPr>
        <p:spPr>
          <a:xfrm>
            <a:off x="7863840" y="1965960"/>
            <a:ext cx="3657600" cy="320040"/>
          </a:xfrm>
          <a:prstGeom prst="rect">
            <a:avLst/>
          </a:prstGeom>
          <a:noFill/>
          <a:ln/>
        </p:spPr>
        <p:txBody>
          <a:bodyPr wrap="square" rtlCol="0" anchor="ctr"/>
          <a:lstStyle/>
          <a:p>
            <a:pPr indent="0" marL="0">
              <a:buNone/>
            </a:pPr>
            <a:r>
              <a:rPr lang="en-US" sz="1150" dirty="0">
                <a:solidFill>
                  <a:srgbClr val="5B5470"/>
                </a:solidFill>
                <a:latin typeface="Arial" pitchFamily="34" charset="0"/>
                <a:ea typeface="Arial" pitchFamily="34" charset="-122"/>
                <a:cs typeface="Arial" pitchFamily="34" charset="-120"/>
              </a:rPr>
              <a:t>Accuracy: 98.25%   |   F1: 0.98</a:t>
            </a:r>
            <a:endParaRPr lang="en-US" sz="1150" dirty="0"/>
          </a:p>
        </p:txBody>
      </p:sp>
      <p:sp>
        <p:nvSpPr>
          <p:cNvPr id="8" name="Text 5"/>
          <p:cNvSpPr/>
          <p:nvPr/>
        </p:nvSpPr>
        <p:spPr>
          <a:xfrm>
            <a:off x="7863840" y="2331720"/>
            <a:ext cx="3657600" cy="411480"/>
          </a:xfrm>
          <a:prstGeom prst="rect">
            <a:avLst/>
          </a:prstGeom>
          <a:noFill/>
          <a:ln/>
        </p:spPr>
        <p:txBody>
          <a:bodyPr wrap="square" rtlCol="0" anchor="ctr"/>
          <a:lstStyle/>
          <a:p>
            <a:pPr indent="0" marL="0">
              <a:buNone/>
            </a:pPr>
            <a:r>
              <a:rPr lang="en-US" sz="1100" i="1" dirty="0">
                <a:solidFill>
                  <a:srgbClr val="8A6D00"/>
                </a:solidFill>
                <a:latin typeface="Arial" pitchFamily="34" charset="0"/>
                <a:ea typeface="Arial" pitchFamily="34" charset="-122"/>
                <a:cs typeface="Arial" pitchFamily="34" charset="-120"/>
              </a:rPr>
              <a:t>Highest accuracy</a:t>
            </a:r>
            <a:endParaRPr lang="en-US" sz="1100" dirty="0"/>
          </a:p>
        </p:txBody>
      </p:sp>
      <p:sp>
        <p:nvSpPr>
          <p:cNvPr id="9" name="Shape 6"/>
          <p:cNvSpPr/>
          <p:nvPr/>
        </p:nvSpPr>
        <p:spPr>
          <a:xfrm>
            <a:off x="7680960" y="3063240"/>
            <a:ext cx="3931920" cy="1417320"/>
          </a:xfrm>
          <a:prstGeom prst="roundRect">
            <a:avLst>
              <a:gd name="adj" fmla="val 5161"/>
            </a:avLst>
          </a:prstGeom>
          <a:solidFill>
            <a:srgbClr val="FFFFFF"/>
          </a:solidFill>
          <a:ln w="12700">
            <a:solidFill>
              <a:srgbClr val="E7E1F2"/>
            </a:solidFill>
            <a:prstDash val="solid"/>
          </a:ln>
        </p:spPr>
      </p:sp>
      <p:sp>
        <p:nvSpPr>
          <p:cNvPr id="10" name="Text 7"/>
          <p:cNvSpPr/>
          <p:nvPr/>
        </p:nvSpPr>
        <p:spPr>
          <a:xfrm>
            <a:off x="7863840" y="3154680"/>
            <a:ext cx="365760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Decision Tree</a:t>
            </a:r>
            <a:endParaRPr lang="en-US" sz="1500" dirty="0"/>
          </a:p>
        </p:txBody>
      </p:sp>
      <p:sp>
        <p:nvSpPr>
          <p:cNvPr id="11" name="Text 8"/>
          <p:cNvSpPr/>
          <p:nvPr/>
        </p:nvSpPr>
        <p:spPr>
          <a:xfrm>
            <a:off x="7863840" y="3566160"/>
            <a:ext cx="3657600" cy="320040"/>
          </a:xfrm>
          <a:prstGeom prst="rect">
            <a:avLst/>
          </a:prstGeom>
          <a:noFill/>
          <a:ln/>
        </p:spPr>
        <p:txBody>
          <a:bodyPr wrap="square" rtlCol="0" anchor="ctr"/>
          <a:lstStyle/>
          <a:p>
            <a:pPr indent="0" marL="0">
              <a:buNone/>
            </a:pPr>
            <a:r>
              <a:rPr lang="en-US" sz="1150" dirty="0">
                <a:solidFill>
                  <a:srgbClr val="5B5470"/>
                </a:solidFill>
                <a:latin typeface="Arial" pitchFamily="34" charset="0"/>
                <a:ea typeface="Arial" pitchFamily="34" charset="-122"/>
                <a:cs typeface="Arial" pitchFamily="34" charset="-120"/>
              </a:rPr>
              <a:t>Accuracy: 93.86%   |   F1: 0.93</a:t>
            </a:r>
            <a:endParaRPr lang="en-US" sz="1150" dirty="0"/>
          </a:p>
        </p:txBody>
      </p:sp>
      <p:sp>
        <p:nvSpPr>
          <p:cNvPr id="12" name="Text 9"/>
          <p:cNvSpPr/>
          <p:nvPr/>
        </p:nvSpPr>
        <p:spPr>
          <a:xfrm>
            <a:off x="7863840" y="3931920"/>
            <a:ext cx="3657600" cy="411480"/>
          </a:xfrm>
          <a:prstGeom prst="rect">
            <a:avLst/>
          </a:prstGeom>
          <a:noFill/>
          <a:ln/>
        </p:spPr>
        <p:txBody>
          <a:bodyPr wrap="square" rtlCol="0" anchor="ctr"/>
          <a:lstStyle/>
          <a:p>
            <a:pPr indent="0" marL="0">
              <a:buNone/>
            </a:pPr>
            <a:r>
              <a:rPr lang="en-US" sz="1100" i="1" dirty="0">
                <a:solidFill>
                  <a:srgbClr val="8A6D00"/>
                </a:solidFill>
                <a:latin typeface="Arial" pitchFamily="34" charset="0"/>
                <a:ea typeface="Arial" pitchFamily="34" charset="-122"/>
                <a:cs typeface="Arial" pitchFamily="34" charset="-120"/>
              </a:rPr>
              <a:t>Most interpretable</a:t>
            </a:r>
            <a:endParaRPr lang="en-US" sz="1100" dirty="0"/>
          </a:p>
        </p:txBody>
      </p:sp>
      <p:sp>
        <p:nvSpPr>
          <p:cNvPr id="13" name="Shape 10"/>
          <p:cNvSpPr/>
          <p:nvPr/>
        </p:nvSpPr>
        <p:spPr>
          <a:xfrm>
            <a:off x="7680960" y="4663440"/>
            <a:ext cx="3931920" cy="1417320"/>
          </a:xfrm>
          <a:prstGeom prst="roundRect">
            <a:avLst>
              <a:gd name="adj" fmla="val 5161"/>
            </a:avLst>
          </a:prstGeom>
          <a:solidFill>
            <a:srgbClr val="FFFFFF"/>
          </a:solidFill>
          <a:ln w="12700">
            <a:solidFill>
              <a:srgbClr val="E7E1F2"/>
            </a:solidFill>
            <a:prstDash val="solid"/>
          </a:ln>
        </p:spPr>
      </p:sp>
      <p:sp>
        <p:nvSpPr>
          <p:cNvPr id="14" name="Text 11"/>
          <p:cNvSpPr/>
          <p:nvPr/>
        </p:nvSpPr>
        <p:spPr>
          <a:xfrm>
            <a:off x="7863840" y="4754880"/>
            <a:ext cx="365760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TensorFlow NN</a:t>
            </a:r>
            <a:endParaRPr lang="en-US" sz="1500" dirty="0"/>
          </a:p>
        </p:txBody>
      </p:sp>
      <p:sp>
        <p:nvSpPr>
          <p:cNvPr id="15" name="Text 12"/>
          <p:cNvSpPr/>
          <p:nvPr/>
        </p:nvSpPr>
        <p:spPr>
          <a:xfrm>
            <a:off x="7863840" y="5166360"/>
            <a:ext cx="3657600" cy="320040"/>
          </a:xfrm>
          <a:prstGeom prst="rect">
            <a:avLst/>
          </a:prstGeom>
          <a:noFill/>
          <a:ln/>
        </p:spPr>
        <p:txBody>
          <a:bodyPr wrap="square" rtlCol="0" anchor="ctr"/>
          <a:lstStyle/>
          <a:p>
            <a:pPr indent="0" marL="0">
              <a:buNone/>
            </a:pPr>
            <a:r>
              <a:rPr lang="en-US" sz="1150" dirty="0">
                <a:solidFill>
                  <a:srgbClr val="5B5470"/>
                </a:solidFill>
                <a:latin typeface="Arial" pitchFamily="34" charset="0"/>
                <a:ea typeface="Arial" pitchFamily="34" charset="-122"/>
                <a:cs typeface="Arial" pitchFamily="34" charset="-120"/>
              </a:rPr>
              <a:t>Accuracy: To be filled after running   |   F1: —</a:t>
            </a:r>
            <a:endParaRPr lang="en-US" sz="1150" dirty="0"/>
          </a:p>
        </p:txBody>
      </p:sp>
      <p:sp>
        <p:nvSpPr>
          <p:cNvPr id="16" name="Text 13"/>
          <p:cNvSpPr/>
          <p:nvPr/>
        </p:nvSpPr>
        <p:spPr>
          <a:xfrm>
            <a:off x="7863840" y="5532120"/>
            <a:ext cx="3657600" cy="411480"/>
          </a:xfrm>
          <a:prstGeom prst="rect">
            <a:avLst/>
          </a:prstGeom>
          <a:noFill/>
          <a:ln/>
        </p:spPr>
        <p:txBody>
          <a:bodyPr wrap="square" rtlCol="0" anchor="ctr"/>
          <a:lstStyle/>
          <a:p>
            <a:pPr indent="0" marL="0">
              <a:buNone/>
            </a:pPr>
            <a:r>
              <a:rPr lang="en-US" sz="1100" i="1" dirty="0">
                <a:solidFill>
                  <a:srgbClr val="8A6D00"/>
                </a:solidFill>
                <a:latin typeface="Arial" pitchFamily="34" charset="0"/>
                <a:ea typeface="Arial" pitchFamily="34" charset="-122"/>
                <a:cs typeface="Arial" pitchFamily="34" charset="-120"/>
              </a:rPr>
              <a:t>Best theoretical generalization</a:t>
            </a:r>
            <a:endParaRPr lang="en-US" sz="1100" dirty="0"/>
          </a:p>
        </p:txBody>
      </p:sp>
      <p:sp>
        <p:nvSpPr>
          <p:cNvPr id="17" name="Text 14"/>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8" name="Text 15"/>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Discussion: Why These Results Make Sense</a:t>
            </a:r>
            <a:endParaRPr lang="en-US" sz="2800" dirty="0"/>
          </a:p>
        </p:txBody>
      </p:sp>
      <p:sp>
        <p:nvSpPr>
          <p:cNvPr id="3" name="Shape 1"/>
          <p:cNvSpPr/>
          <p:nvPr/>
        </p:nvSpPr>
        <p:spPr>
          <a:xfrm>
            <a:off x="548640" y="1417320"/>
            <a:ext cx="109728" cy="1051560"/>
          </a:xfrm>
          <a:prstGeom prst="roundRect">
            <a:avLst/>
          </a:prstGeom>
          <a:solidFill>
            <a:srgbClr val="D4A017"/>
          </a:solidFill>
          <a:ln/>
        </p:spPr>
      </p:sp>
      <p:sp>
        <p:nvSpPr>
          <p:cNvPr id="4" name="Text 2"/>
          <p:cNvSpPr/>
          <p:nvPr/>
        </p:nvSpPr>
        <p:spPr>
          <a:xfrm>
            <a:off x="868680" y="1399032"/>
            <a:ext cx="1060704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SVC performed best</a:t>
            </a:r>
            <a:endParaRPr lang="en-US" sz="1500" dirty="0"/>
          </a:p>
        </p:txBody>
      </p:sp>
      <p:sp>
        <p:nvSpPr>
          <p:cNvPr id="5" name="Text 3"/>
          <p:cNvSpPr/>
          <p:nvPr/>
        </p:nvSpPr>
        <p:spPr>
          <a:xfrm>
            <a:off x="868680" y="1783080"/>
            <a:ext cx="10607040" cy="640080"/>
          </a:xfrm>
          <a:prstGeom prst="rect">
            <a:avLst/>
          </a:prstGeom>
          <a:noFill/>
          <a:ln/>
        </p:spPr>
        <p:txBody>
          <a:bodyPr wrap="square" rtlCol="0" anchor="ctr"/>
          <a:lstStyle/>
          <a:p>
            <a:pPr indent="0" marL="0">
              <a:buNone/>
            </a:pPr>
            <a:r>
              <a:rPr lang="en-US" sz="1250" dirty="0">
                <a:solidFill>
                  <a:srgbClr val="5B5470"/>
                </a:solidFill>
                <a:latin typeface="Arial" pitchFamily="34" charset="0"/>
                <a:ea typeface="Arial" pitchFamily="34" charset="-122"/>
                <a:cs typeface="Arial" pitchFamily="34" charset="-120"/>
              </a:rPr>
              <a:t>The RBF kernel handles the moderate overlap between malignant and benign feature distributions well, and 30 standardized features suit SVM's distance-based approach.</a:t>
            </a:r>
            <a:endParaRPr lang="en-US" sz="1250" dirty="0"/>
          </a:p>
        </p:txBody>
      </p:sp>
      <p:sp>
        <p:nvSpPr>
          <p:cNvPr id="6" name="Shape 4"/>
          <p:cNvSpPr/>
          <p:nvPr/>
        </p:nvSpPr>
        <p:spPr>
          <a:xfrm>
            <a:off x="548640" y="2606040"/>
            <a:ext cx="109728" cy="1051560"/>
          </a:xfrm>
          <a:prstGeom prst="roundRect">
            <a:avLst/>
          </a:prstGeom>
          <a:solidFill>
            <a:srgbClr val="D4A017"/>
          </a:solidFill>
          <a:ln/>
        </p:spPr>
      </p:sp>
      <p:sp>
        <p:nvSpPr>
          <p:cNvPr id="7" name="Text 5"/>
          <p:cNvSpPr/>
          <p:nvPr/>
        </p:nvSpPr>
        <p:spPr>
          <a:xfrm>
            <a:off x="868680" y="2587752"/>
            <a:ext cx="1060704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Decision Tree is more error-prone here</a:t>
            </a:r>
            <a:endParaRPr lang="en-US" sz="1500" dirty="0"/>
          </a:p>
        </p:txBody>
      </p:sp>
      <p:sp>
        <p:nvSpPr>
          <p:cNvPr id="8" name="Text 6"/>
          <p:cNvSpPr/>
          <p:nvPr/>
        </p:nvSpPr>
        <p:spPr>
          <a:xfrm>
            <a:off x="868680" y="2971800"/>
            <a:ext cx="10607040" cy="640080"/>
          </a:xfrm>
          <a:prstGeom prst="rect">
            <a:avLst/>
          </a:prstGeom>
          <a:noFill/>
          <a:ln/>
        </p:spPr>
        <p:txBody>
          <a:bodyPr wrap="square" rtlCol="0" anchor="ctr"/>
          <a:lstStyle/>
          <a:p>
            <a:pPr indent="0" marL="0">
              <a:buNone/>
            </a:pPr>
            <a:r>
              <a:rPr lang="en-US" sz="1250" dirty="0">
                <a:solidFill>
                  <a:srgbClr val="5B5470"/>
                </a:solidFill>
                <a:latin typeface="Arial" pitchFamily="34" charset="0"/>
                <a:ea typeface="Arial" pitchFamily="34" charset="-122"/>
                <a:cs typeface="Arial" pitchFamily="34" charset="-120"/>
              </a:rPr>
              <a:t>A single tree with limited depth (4) struggles slightly more with 30 correlated features (e.g. radius, perimeter, and area are naturally related) than a margin-based method.</a:t>
            </a:r>
            <a:endParaRPr lang="en-US" sz="1250" dirty="0"/>
          </a:p>
        </p:txBody>
      </p:sp>
      <p:sp>
        <p:nvSpPr>
          <p:cNvPr id="9" name="Shape 7"/>
          <p:cNvSpPr/>
          <p:nvPr/>
        </p:nvSpPr>
        <p:spPr>
          <a:xfrm>
            <a:off x="548640" y="3794760"/>
            <a:ext cx="109728" cy="1051560"/>
          </a:xfrm>
          <a:prstGeom prst="roundRect">
            <a:avLst/>
          </a:prstGeom>
          <a:solidFill>
            <a:srgbClr val="D4A017"/>
          </a:solidFill>
          <a:ln/>
        </p:spPr>
      </p:sp>
      <p:sp>
        <p:nvSpPr>
          <p:cNvPr id="10" name="Text 8"/>
          <p:cNvSpPr/>
          <p:nvPr/>
        </p:nvSpPr>
        <p:spPr>
          <a:xfrm>
            <a:off x="868680" y="3776472"/>
            <a:ext cx="1060704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Neural networks need more data</a:t>
            </a:r>
            <a:endParaRPr lang="en-US" sz="1500" dirty="0"/>
          </a:p>
        </p:txBody>
      </p:sp>
      <p:sp>
        <p:nvSpPr>
          <p:cNvPr id="11" name="Text 9"/>
          <p:cNvSpPr/>
          <p:nvPr/>
        </p:nvSpPr>
        <p:spPr>
          <a:xfrm>
            <a:off x="868680" y="4160520"/>
            <a:ext cx="10607040" cy="640080"/>
          </a:xfrm>
          <a:prstGeom prst="rect">
            <a:avLst/>
          </a:prstGeom>
          <a:noFill/>
          <a:ln/>
        </p:spPr>
        <p:txBody>
          <a:bodyPr wrap="square" rtlCol="0" anchor="ctr"/>
          <a:lstStyle/>
          <a:p>
            <a:pPr indent="0" marL="0">
              <a:buNone/>
            </a:pPr>
            <a:r>
              <a:rPr lang="en-US" sz="1250" dirty="0">
                <a:solidFill>
                  <a:srgbClr val="5B5470"/>
                </a:solidFill>
                <a:latin typeface="Arial" pitchFamily="34" charset="0"/>
                <a:ea typeface="Arial" pitchFamily="34" charset="-122"/>
                <a:cs typeface="Arial" pitchFamily="34" charset="-120"/>
              </a:rPr>
              <a:t>With 569 samples, a deep learning model has less advantage over classical ML - but Dropout and a shallow architecture help it generalize.</a:t>
            </a:r>
            <a:endParaRPr lang="en-US" sz="1250" dirty="0"/>
          </a:p>
        </p:txBody>
      </p:sp>
      <p:sp>
        <p:nvSpPr>
          <p:cNvPr id="12" name="Shape 10"/>
          <p:cNvSpPr/>
          <p:nvPr/>
        </p:nvSpPr>
        <p:spPr>
          <a:xfrm>
            <a:off x="548640" y="4983480"/>
            <a:ext cx="109728" cy="1051560"/>
          </a:xfrm>
          <a:prstGeom prst="roundRect">
            <a:avLst/>
          </a:prstGeom>
          <a:solidFill>
            <a:srgbClr val="D4A017"/>
          </a:solidFill>
          <a:ln/>
        </p:spPr>
      </p:sp>
      <p:sp>
        <p:nvSpPr>
          <p:cNvPr id="13" name="Text 11"/>
          <p:cNvSpPr/>
          <p:nvPr/>
        </p:nvSpPr>
        <p:spPr>
          <a:xfrm>
            <a:off x="868680" y="4965192"/>
            <a:ext cx="10607040" cy="365760"/>
          </a:xfrm>
          <a:prstGeom prst="rect">
            <a:avLst/>
          </a:prstGeom>
          <a:noFill/>
          <a:ln/>
        </p:spPr>
        <p:txBody>
          <a:bodyPr wrap="square" rtlCol="0" anchor="ctr"/>
          <a:lstStyle/>
          <a:p>
            <a:pPr indent="0" marL="0">
              <a:buNone/>
            </a:pPr>
            <a:r>
              <a:rPr lang="en-US" sz="1500" b="1" dirty="0">
                <a:solidFill>
                  <a:srgbClr val="241145"/>
                </a:solidFill>
                <a:latin typeface="Arial" pitchFamily="34" charset="0"/>
                <a:ea typeface="Arial" pitchFamily="34" charset="-122"/>
                <a:cs typeface="Arial" pitchFamily="34" charset="-120"/>
              </a:rPr>
              <a:t>Clinical implication</a:t>
            </a:r>
            <a:endParaRPr lang="en-US" sz="1500" dirty="0"/>
          </a:p>
        </p:txBody>
      </p:sp>
      <p:sp>
        <p:nvSpPr>
          <p:cNvPr id="14" name="Text 12"/>
          <p:cNvSpPr/>
          <p:nvPr/>
        </p:nvSpPr>
        <p:spPr>
          <a:xfrm>
            <a:off x="868680" y="5349240"/>
            <a:ext cx="10607040" cy="640080"/>
          </a:xfrm>
          <a:prstGeom prst="rect">
            <a:avLst/>
          </a:prstGeom>
          <a:noFill/>
          <a:ln/>
        </p:spPr>
        <p:txBody>
          <a:bodyPr wrap="square" rtlCol="0" anchor="ctr"/>
          <a:lstStyle/>
          <a:p>
            <a:pPr indent="0" marL="0">
              <a:buNone/>
            </a:pPr>
            <a:r>
              <a:rPr lang="en-US" sz="1250" dirty="0">
                <a:solidFill>
                  <a:srgbClr val="5B5470"/>
                </a:solidFill>
                <a:latin typeface="Arial" pitchFamily="34" charset="0"/>
                <a:ea typeface="Arial" pitchFamily="34" charset="-122"/>
                <a:cs typeface="Arial" pitchFamily="34" charset="-120"/>
              </a:rPr>
              <a:t>In medical diagnosis, false negatives (missing a malignant tumor) are more costly than false positives - SVC's fewer errors make it the safer choice here.</a:t>
            </a:r>
            <a:endParaRPr lang="en-US" sz="1250" dirty="0"/>
          </a:p>
        </p:txBody>
      </p:sp>
      <p:sp>
        <p:nvSpPr>
          <p:cNvPr id="15" name="Text 13"/>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16" name="Text 14"/>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C"/>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800" b="1" dirty="0">
                <a:solidFill>
                  <a:srgbClr val="241145"/>
                </a:solidFill>
                <a:latin typeface="Arial" pitchFamily="34" charset="0"/>
                <a:ea typeface="Arial" pitchFamily="34" charset="-122"/>
                <a:cs typeface="Arial" pitchFamily="34" charset="-120"/>
              </a:rPr>
              <a:t>Conclusion &amp; Future Work</a:t>
            </a:r>
            <a:endParaRPr lang="en-US" sz="2800" dirty="0"/>
          </a:p>
        </p:txBody>
      </p:sp>
      <p:sp>
        <p:nvSpPr>
          <p:cNvPr id="3" name="Text 1"/>
          <p:cNvSpPr/>
          <p:nvPr/>
        </p:nvSpPr>
        <p:spPr>
          <a:xfrm>
            <a:off x="548640" y="1371600"/>
            <a:ext cx="5486400" cy="365760"/>
          </a:xfrm>
          <a:prstGeom prst="rect">
            <a:avLst/>
          </a:prstGeom>
          <a:noFill/>
          <a:ln/>
        </p:spPr>
        <p:txBody>
          <a:bodyPr wrap="square" rtlCol="0" anchor="ctr"/>
          <a:lstStyle/>
          <a:p>
            <a:pPr indent="0" marL="0">
              <a:buNone/>
            </a:pPr>
            <a:r>
              <a:rPr lang="en-US" sz="1600" b="1" dirty="0">
                <a:solidFill>
                  <a:srgbClr val="241145"/>
                </a:solidFill>
                <a:latin typeface="Arial" pitchFamily="34" charset="0"/>
                <a:ea typeface="Arial" pitchFamily="34" charset="-122"/>
                <a:cs typeface="Arial" pitchFamily="34" charset="-120"/>
              </a:rPr>
              <a:t>Conclusion</a:t>
            </a:r>
            <a:endParaRPr lang="en-US" sz="1600" dirty="0"/>
          </a:p>
        </p:txBody>
      </p:sp>
      <p:sp>
        <p:nvSpPr>
          <p:cNvPr id="4" name="Text 2"/>
          <p:cNvSpPr/>
          <p:nvPr/>
        </p:nvSpPr>
        <p:spPr>
          <a:xfrm>
            <a:off x="548640" y="1783080"/>
            <a:ext cx="11064240" cy="201168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3 classification models (SVC, Decision Tree, TensorFlow Sequential) were successfully applied to real, verified medical data.</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SVC achieved the highest test accuracy at 98.25%, followed by Decision Tree at 93.86%.</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The same SVM and Decision Tree pipeline was reproduced in MATLAB, fulfilling the bonus requirement.</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A real, non-Iris dataset (UCI Breast Cancer Wisconsin) was used consistently across all three models and both languages.</a:t>
            </a:r>
            <a:endParaRPr lang="en-US" sz="1300" dirty="0"/>
          </a:p>
        </p:txBody>
      </p:sp>
      <p:sp>
        <p:nvSpPr>
          <p:cNvPr id="5" name="Text 3"/>
          <p:cNvSpPr/>
          <p:nvPr/>
        </p:nvSpPr>
        <p:spPr>
          <a:xfrm>
            <a:off x="548640" y="3931920"/>
            <a:ext cx="5486400" cy="365760"/>
          </a:xfrm>
          <a:prstGeom prst="rect">
            <a:avLst/>
          </a:prstGeom>
          <a:noFill/>
          <a:ln/>
        </p:spPr>
        <p:txBody>
          <a:bodyPr wrap="square" rtlCol="0" anchor="ctr"/>
          <a:lstStyle/>
          <a:p>
            <a:pPr indent="0" marL="0">
              <a:buNone/>
            </a:pPr>
            <a:r>
              <a:rPr lang="en-US" sz="1600" b="1" dirty="0">
                <a:solidFill>
                  <a:srgbClr val="241145"/>
                </a:solidFill>
                <a:latin typeface="Arial" pitchFamily="34" charset="0"/>
                <a:ea typeface="Arial" pitchFamily="34" charset="-122"/>
                <a:cs typeface="Arial" pitchFamily="34" charset="-120"/>
              </a:rPr>
              <a:t>Future Work</a:t>
            </a:r>
            <a:endParaRPr lang="en-US" sz="1600" dirty="0"/>
          </a:p>
        </p:txBody>
      </p:sp>
      <p:sp>
        <p:nvSpPr>
          <p:cNvPr id="6" name="Text 4"/>
          <p:cNvSpPr/>
          <p:nvPr/>
        </p:nvSpPr>
        <p:spPr>
          <a:xfrm>
            <a:off x="548640" y="4343400"/>
            <a:ext cx="11064240" cy="1463040"/>
          </a:xfrm>
          <a:prstGeom prst="rect">
            <a:avLst/>
          </a:prstGeom>
          <a:noFill/>
          <a:ln/>
        </p:spPr>
        <p:txBody>
          <a:bodyPr wrap="square" rtlCol="0" anchor="ctr"/>
          <a:lstStyle/>
          <a:p>
            <a:pPr marL="342900" indent="-342900">
              <a:buSzPct val="100000"/>
              <a:buChar char="•"/>
            </a:pPr>
            <a:r>
              <a:rPr lang="en-US" sz="1300" dirty="0">
                <a:solidFill>
                  <a:srgbClr val="241145"/>
                </a:solidFill>
                <a:latin typeface="Arial" pitchFamily="34" charset="0"/>
                <a:ea typeface="Arial" pitchFamily="34" charset="-122"/>
                <a:cs typeface="Arial" pitchFamily="34" charset="-120"/>
              </a:rPr>
              <a:t>Run and record the actual TensorFlow accuracy for a complete 3-way comparison</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Try cross-validation instead of a single train/test split for more robust results</a:t>
            </a:r>
            <a:endParaRPr lang="en-US" sz="1300" dirty="0"/>
          </a:p>
          <a:p>
            <a:pPr marL="342900" indent="-342900">
              <a:buSzPct val="100000"/>
              <a:buChar char="•"/>
            </a:pPr>
            <a:r>
              <a:rPr lang="en-US" sz="1300" dirty="0">
                <a:solidFill>
                  <a:srgbClr val="241145"/>
                </a:solidFill>
                <a:latin typeface="Arial" pitchFamily="34" charset="0"/>
                <a:ea typeface="Arial" pitchFamily="34" charset="-122"/>
                <a:cs typeface="Arial" pitchFamily="34" charset="-120"/>
              </a:rPr>
              <a:t>Prioritize recall for the malignant class, since false negatives are clinically costlier</a:t>
            </a:r>
            <a:endParaRPr lang="en-US" sz="1300" dirty="0"/>
          </a:p>
        </p:txBody>
      </p:sp>
      <p:sp>
        <p:nvSpPr>
          <p:cNvPr id="7" name="Text 5"/>
          <p:cNvSpPr/>
          <p:nvPr/>
        </p:nvSpPr>
        <p:spPr>
          <a:xfrm>
            <a:off x="365760" y="6510528"/>
            <a:ext cx="7315200" cy="274320"/>
          </a:xfrm>
          <a:prstGeom prst="rect">
            <a:avLst/>
          </a:prstGeom>
          <a:noFill/>
          <a:ln/>
        </p:spPr>
        <p:txBody>
          <a:bodyPr wrap="square" rtlCol="0" anchor="ctr"/>
          <a:lstStyle/>
          <a:p>
            <a:pPr algn="l" indent="0" marL="0">
              <a:buNone/>
            </a:pPr>
            <a:r>
              <a:rPr lang="en-US" sz="900" dirty="0">
                <a:solidFill>
                  <a:srgbClr val="9A8FB0"/>
                </a:solidFill>
                <a:latin typeface="Arial" pitchFamily="34" charset="0"/>
                <a:ea typeface="Arial" pitchFamily="34" charset="-122"/>
                <a:cs typeface="Arial" pitchFamily="34" charset="-120"/>
              </a:rPr>
              <a:t>AI Classification Project - Breast Cancer Dataset</a:t>
            </a:r>
            <a:endParaRPr lang="en-US" sz="900" dirty="0"/>
          </a:p>
        </p:txBody>
      </p:sp>
      <p:sp>
        <p:nvSpPr>
          <p:cNvPr id="8" name="Text 6"/>
          <p:cNvSpPr/>
          <p:nvPr/>
        </p:nvSpPr>
        <p:spPr>
          <a:xfrm>
            <a:off x="11521440" y="6510528"/>
            <a:ext cx="365760" cy="274320"/>
          </a:xfrm>
          <a:prstGeom prst="rect">
            <a:avLst/>
          </a:prstGeom>
          <a:noFill/>
          <a:ln/>
        </p:spPr>
        <p:txBody>
          <a:bodyPr wrap="square" rtlCol="0" anchor="ctr"/>
          <a:lstStyle/>
          <a:p>
            <a:pPr algn="r" indent="0" marL="0">
              <a:buNone/>
            </a:pPr>
            <a:r>
              <a:rPr lang="en-US" sz="900" dirty="0">
                <a:solidFill>
                  <a:srgbClr val="9A8FB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145"/>
        </a:solidFill>
      </p:bgPr>
    </p:bg>
    <p:spTree>
      <p:nvGrpSpPr>
        <p:cNvPr id="1" name=""/>
        <p:cNvGrpSpPr/>
        <p:nvPr/>
      </p:nvGrpSpPr>
      <p:grpSpPr>
        <a:xfrm>
          <a:off x="0" y="0"/>
          <a:ext cx="0" cy="0"/>
          <a:chOff x="0" y="0"/>
          <a:chExt cx="0" cy="0"/>
        </a:xfrm>
      </p:grpSpPr>
      <p:sp>
        <p:nvSpPr>
          <p:cNvPr id="2" name="Text 0"/>
          <p:cNvSpPr/>
          <p:nvPr/>
        </p:nvSpPr>
        <p:spPr>
          <a:xfrm>
            <a:off x="548640" y="548640"/>
            <a:ext cx="109728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References &amp; Data Source</a:t>
            </a:r>
            <a:endParaRPr lang="en-US" sz="2800" dirty="0"/>
          </a:p>
        </p:txBody>
      </p:sp>
      <p:sp>
        <p:nvSpPr>
          <p:cNvPr id="3" name="Shape 1"/>
          <p:cNvSpPr/>
          <p:nvPr/>
        </p:nvSpPr>
        <p:spPr>
          <a:xfrm>
            <a:off x="548640" y="1645920"/>
            <a:ext cx="11064240" cy="1737360"/>
          </a:xfrm>
          <a:prstGeom prst="roundRect">
            <a:avLst>
              <a:gd name="adj" fmla="val 5263"/>
            </a:avLst>
          </a:prstGeom>
          <a:solidFill>
            <a:srgbClr val="3E1F73">
              <a:alpha val="85000"/>
            </a:srgbClr>
          </a:solidFill>
          <a:ln/>
        </p:spPr>
      </p:sp>
      <p:sp>
        <p:nvSpPr>
          <p:cNvPr id="4" name="Text 2"/>
          <p:cNvSpPr/>
          <p:nvPr/>
        </p:nvSpPr>
        <p:spPr>
          <a:xfrm>
            <a:off x="822960" y="1828800"/>
            <a:ext cx="10515600" cy="1463040"/>
          </a:xfrm>
          <a:prstGeom prst="rect">
            <a:avLst/>
          </a:prstGeom>
          <a:noFill/>
          <a:ln/>
        </p:spPr>
        <p:txBody>
          <a:bodyPr wrap="square" rtlCol="0" anchor="t"/>
          <a:lstStyle/>
          <a:p>
            <a:pPr indent="0" marL="0">
              <a:buNone/>
            </a:pPr>
            <a:r>
              <a:rPr lang="en-US" sz="1500" b="1" dirty="0">
                <a:solidFill>
                  <a:srgbClr val="F2C94C"/>
                </a:solidFill>
                <a:latin typeface="Arial" pitchFamily="34" charset="0"/>
                <a:ea typeface="Arial" pitchFamily="34" charset="-122"/>
                <a:cs typeface="Arial" pitchFamily="34" charset="-120"/>
              </a:rPr>
              <a:t>Dataset: </a:t>
            </a:r>
            <a:endParaRPr lang="en-US" sz="1500" dirty="0"/>
          </a:p>
          <a:p>
            <a:pPr indent="0" marL="0">
              <a:buNone/>
            </a:pPr>
            <a:r>
              <a:rPr lang="en-US" sz="1250" dirty="0">
                <a:solidFill>
                  <a:srgbClr val="FFFFFF"/>
                </a:solidFill>
                <a:latin typeface="Arial" pitchFamily="34" charset="0"/>
                <a:ea typeface="Arial" pitchFamily="34" charset="-122"/>
                <a:cs typeface="Arial" pitchFamily="34" charset="-120"/>
              </a:rPr>
              <a:t>Wolberg, W., Mangasarian, O., Street, N., &amp; Street, W. (1993). Breast Cancer Wisconsin (Diagnostic) [Dataset]. UCI Machine Learning Repository.
</a:t>
            </a:r>
            <a:endParaRPr lang="en-US" sz="1500" dirty="0"/>
          </a:p>
          <a:p>
            <a:pPr indent="0" marL="0">
              <a:buNone/>
            </a:pPr>
            <a:r>
              <a:rPr lang="en-US" sz="1250" dirty="0">
                <a:solidFill>
                  <a:srgbClr val="CFC6E6"/>
                </a:solidFill>
                <a:latin typeface="Arial" pitchFamily="34" charset="0"/>
                <a:ea typeface="Arial" pitchFamily="34" charset="-122"/>
                <a:cs typeface="Arial" pitchFamily="34" charset="-120"/>
              </a:rPr>
              <a:t>DOI: https://doi.org/10.24432/C5DW2B
</a:t>
            </a:r>
            <a:endParaRPr lang="en-US" sz="1500" dirty="0"/>
          </a:p>
          <a:p>
            <a:pPr indent="0" marL="0">
              <a:buNone/>
            </a:pPr>
            <a:r>
              <a:rPr lang="en-US" sz="1250" b="1" dirty="0">
                <a:solidFill>
                  <a:srgbClr val="F2C94C"/>
                </a:solidFill>
                <a:latin typeface="Arial" pitchFamily="34" charset="0"/>
                <a:ea typeface="Arial" pitchFamily="34" charset="-122"/>
                <a:cs typeface="Arial" pitchFamily="34" charset="-120"/>
              </a:rPr>
              <a:t>URL: https://archive.ics.uci.edu/dataset/17/breast+cancer+wisconsin+diagnostic</a:t>
            </a:r>
            <a:endParaRPr lang="en-US" sz="1500" dirty="0"/>
          </a:p>
        </p:txBody>
      </p:sp>
      <p:sp>
        <p:nvSpPr>
          <p:cNvPr id="5" name="Text 3"/>
          <p:cNvSpPr/>
          <p:nvPr/>
        </p:nvSpPr>
        <p:spPr>
          <a:xfrm>
            <a:off x="548640" y="3749040"/>
            <a:ext cx="11064240" cy="1097280"/>
          </a:xfrm>
          <a:prstGeom prst="rect">
            <a:avLst/>
          </a:prstGeom>
          <a:noFill/>
          <a:ln/>
        </p:spPr>
        <p:txBody>
          <a:bodyPr wrap="square" rtlCol="0" anchor="t"/>
          <a:lstStyle/>
          <a:p>
            <a:pPr indent="0" marL="0">
              <a:buNone/>
            </a:pPr>
            <a:r>
              <a:rPr lang="en-US" sz="1500" b="1" dirty="0">
                <a:solidFill>
                  <a:srgbClr val="F2C94C"/>
                </a:solidFill>
                <a:latin typeface="Arial" pitchFamily="34" charset="0"/>
                <a:ea typeface="Arial" pitchFamily="34" charset="-122"/>
                <a:cs typeface="Arial" pitchFamily="34" charset="-120"/>
              </a:rPr>
              <a:t>Tools &amp; Libraries: </a:t>
            </a:r>
            <a:endParaRPr lang="en-US" sz="1500" dirty="0"/>
          </a:p>
          <a:p>
            <a:pPr indent="0" marL="0">
              <a:buNone/>
            </a:pPr>
            <a:r>
              <a:rPr lang="en-US" sz="1300" dirty="0">
                <a:solidFill>
                  <a:srgbClr val="FFFFFF"/>
                </a:solidFill>
                <a:latin typeface="Arial" pitchFamily="34" charset="0"/>
                <a:ea typeface="Arial" pitchFamily="34" charset="-122"/>
                <a:cs typeface="Arial" pitchFamily="34" charset="-120"/>
              </a:rPr>
              <a:t>scikit-learn (SVC, DecisionTreeClassifier), TensorFlow / Keras (Sequential API), MATLAB Statistics and Machine Learning Toolbox (fitcsvm, fitctree)</a:t>
            </a:r>
            <a:endParaRPr lang="en-US" sz="1500" dirty="0"/>
          </a:p>
        </p:txBody>
      </p:sp>
      <p:sp>
        <p:nvSpPr>
          <p:cNvPr id="6" name="Text 4"/>
          <p:cNvSpPr/>
          <p:nvPr/>
        </p:nvSpPr>
        <p:spPr>
          <a:xfrm>
            <a:off x="548640" y="5303520"/>
            <a:ext cx="11064240" cy="548640"/>
          </a:xfrm>
          <a:prstGeom prst="rect">
            <a:avLst/>
          </a:prstGeom>
          <a:noFill/>
          <a:ln/>
        </p:spPr>
        <p:txBody>
          <a:bodyPr wrap="square" rtlCol="0" anchor="ctr"/>
          <a:lstStyle/>
          <a:p>
            <a:pPr algn="ctr" indent="0" marL="0">
              <a:buNone/>
            </a:pPr>
            <a:r>
              <a:rPr lang="en-US" sz="2200" b="1" dirty="0">
                <a:solidFill>
                  <a:srgbClr val="F2C94C"/>
                </a:solidFill>
                <a:latin typeface="Arial" pitchFamily="34" charset="0"/>
                <a:ea typeface="Arial" pitchFamily="34" charset="-122"/>
                <a:cs typeface="Arial" pitchFamily="34" charset="-120"/>
              </a:rPr>
              <a:t>Thank you - Questions Welcome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2026-07-30T20:39:18Z</dcterms:created>
  <dcterms:modified xsi:type="dcterms:W3CDTF">2026-07-30T20:39:18Z</dcterms:modified>
</cp:coreProperties>
</file>